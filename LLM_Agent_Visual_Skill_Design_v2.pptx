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:Relationships xmlns:rel="http://schemas.openxmlformats.org/package/2006/relationships"><rel:Relationship Id="rId1" Type="http://schemas.openxmlformats.org/officeDocument/2006/relationships/slideMaster" Target="slideMasters/slideMaster1.xml"/><rel:Relationship Id="rId2" Type="http://schemas.openxmlformats.org/officeDocument/2006/relationships/slide" Target="slides/slide1.xml"/><rel:Relationship Id="rId3" Type="http://schemas.openxmlformats.org/officeDocument/2006/relationships/slide" Target="slides/slide2.xml"/><rel:Relationship Id="rId4" Type="http://schemas.openxmlformats.org/officeDocument/2006/relationships/slide" Target="slides/slide3.xml"/><rel:Relationship Id="rId5" Type="http://schemas.openxmlformats.org/officeDocument/2006/relationships/slide" Target="slides/slide4.xml"/><rel:Relationship Id="rId6" Type="http://schemas.openxmlformats.org/officeDocument/2006/relationships/slide" Target="slides/slide5.xml"/><rel:Relationship Id="rId7" Type="http://schemas.openxmlformats.org/officeDocument/2006/relationships/slide" Target="slides/slide6.xml"/><rel:Relationship Id="rId8" Type="http://schemas.openxmlformats.org/officeDocument/2006/relationships/notesMaster" Target="notesMasters/notesMaster1.xml"/><rel:Relationship Id="rId9" Type="http://schemas.openxmlformats.org/officeDocument/2006/relationships/presProps" Target="presProps.xml"/><rel:Relationship Id="rId10" Type="http://schemas.openxmlformats.org/officeDocument/2006/relationships/viewProps" Target="viewProps.xml"/><rel:Relationship Id="rId11" Type="http://schemas.openxmlformats.org/officeDocument/2006/relationships/theme" Target="theme/theme1.xml"/><rel:Relationship Id="rId12" Type="http://schemas.openxmlformats.org/officeDocument/2006/relationships/tableStyles" Target="tableStyles.xml"/><rel:Relationship Id="rId13" Type="http://schemas.openxmlformats.org/officeDocument/2006/relationships/slide" Target="slides/slide7.xml"/><rel:Relationship Id="rId14" Type="http://schemas.openxmlformats.org/officeDocument/2006/relationships/slide" Target="slides/slide8.xml"/><rel:Relationship Id="rId15" Type="http://schemas.openxmlformats.org/officeDocument/2006/relationships/slide" Target="slides/slide9.xml"/><rel:Relationship Id="rId16" Type="http://schemas.openxmlformats.org/officeDocument/2006/relationships/slide" Target="slides/slide10.xml"/><rel:Relationship Id="rId17" Type="http://schemas.openxmlformats.org/officeDocument/2006/relationships/slide" Target="slides/slide11.xml"/><rel:Relationship Id="rId18" Type="http://schemas.openxmlformats.org/officeDocument/2006/relationships/slide" Target="slides/slide12.xml"/><rel:Relationship Id="rId19" Type="http://schemas.openxmlformats.org/officeDocument/2006/relationships/slide" Target="slides/slide13.xml"/><rel:Relationship Id="rId20" Type="http://schemas.openxmlformats.org/officeDocument/2006/relationships/slide" Target="slides/slide14.xml"/><rel:Relationship Id="rId21" Type="http://schemas.openxmlformats.org/officeDocument/2006/relationships/slide" Target="slides/slide15.xml"/><rel:Relationship Id="rId22" Type="http://schemas.openxmlformats.org/officeDocument/2006/relationships/slide" Target="slides/slide16.xml"/><rel:Relationship Id="rId23" Type="http://schemas.openxmlformats.org/officeDocument/2006/relationships/slide" Target="slides/slide17.xml"/><rel:Relationship Id="rId24" Type="http://schemas.openxmlformats.org/officeDocument/2006/relationships/slide" Target="slides/slide18.xml"/><rel:Relationship Id="rId25" Type="http://schemas.openxmlformats.org/officeDocument/2006/relationships/slide" Target="slides/slide19.xml"/><rel:Relationship Id="rId26" Type="http://schemas.openxmlformats.org/officeDocument/2006/relationships/slide" Target="slides/slide20.xml"/><rel:Relationship Id="rId27" Type="http://schemas.openxmlformats.org/officeDocument/2006/relationships/slide" Target="slides/slide21.xml"/><rel:Relationship Id="rId28" Type="http://schemas.openxmlformats.org/officeDocument/2006/relationships/slide" Target="slides/slide22.xml"/><rel:Relationship Id="rId29" Type="http://schemas.openxmlformats.org/officeDocument/2006/relationships/slide" Target="slides/slide23.xml"/><rel:Relationship Id="rId30" Type="http://schemas.openxmlformats.org/officeDocument/2006/relationships/slide" Target="slides/slide24.xml"/><rel:Relationship Id="rId31" Type="http://schemas.openxmlformats.org/officeDocument/2006/relationships/slide" Target="slides/slide25.xml"/><rel:Relationship Id="rId32" Type="http://schemas.openxmlformats.org/officeDocument/2006/relationships/slide" Target="slides/slide26.xml"/><rel:Relationship Id="rId33" Type="http://schemas.openxmlformats.org/officeDocument/2006/relationships/slide" Target="slides/slide27.xml"/><rel:Relationship Id="rId34" Type="http://schemas.openxmlformats.org/officeDocument/2006/relationships/slide" Target="slides/slide28.xml"/><rel:Relationship Id="rId35" Type="http://schemas.openxmlformats.org/officeDocument/2006/relationships/slide" Target="slides/slide29.xml"/><rel:Relationship Id="rId36" Type="http://schemas.openxmlformats.org/officeDocument/2006/relationships/slide" Target="slides/slide30.xml"/><rel:Relationship Id="rId37" Type="http://schemas.openxmlformats.org/officeDocument/2006/relationships/slide" Target="slides/slide31.xml"/><rel:Relationship Id="rId38" Type="http://schemas.openxmlformats.org/officeDocument/2006/relationships/slide" Target="slides/slide32.xml"/><rel:Relationship Id="rId39" Type="http://schemas.openxmlformats.org/officeDocument/2006/relationships/slide" Target="slides/slide33.xml"/></rel: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:Relationships xmlns:rel="http://schemas.openxmlformats.org/package/2006/relationships"><rel:Relationship Id="rId1" Type="http://schemas.openxmlformats.org/officeDocument/2006/relationships/slideLayout" Target="../slideLayouts/slideLayout1.xml"/></rel:Relationships>
</file>

<file path=ppt/slides/_rels/slide8.xml.rels><?xml version='1.0' encoding='UTF-8' standalone='yes'?>
<rel:Relationships xmlns:rel="http://schemas.openxmlformats.org/package/2006/relationships"><rel:Relationship Id="rId1" Type="http://schemas.openxmlformats.org/officeDocument/2006/relationships/slideLayout" Target="../slideLayouts/slideLayout1.xml"/></rel:Relationships>
</file>

<file path=ppt/slides/_rels/slide9.xml.rels><?xml version='1.0' encoding='UTF-8' standalone='yes'?>
<rel:Relationships xmlns:rel="http://schemas.openxmlformats.org/package/2006/relationships"><rel:Relationship Id="rId1" Type="http://schemas.openxmlformats.org/officeDocument/2006/relationships/slideLayout" Target="../slideLayouts/slideLayout1.xml"/></rel:Relationships>
</file>

<file path=ppt/slides/_rels/slide10.xml.rels><?xml version='1.0' encoding='UTF-8' standalone='yes'?>
<rel:Relationships xmlns:rel="http://schemas.openxmlformats.org/package/2006/relationships"><rel:Relationship Id="rId1" Type="http://schemas.openxmlformats.org/officeDocument/2006/relationships/slideLayout" Target="../slideLayouts/slideLayout1.xml"/></rel:Relationships>
</file>

<file path=ppt/slides/_rels/slide11.xml.rels><?xml version='1.0' encoding='UTF-8' standalone='yes'?>
<rel:Relationships xmlns:rel="http://schemas.openxmlformats.org/package/2006/relationships"><rel:Relationship Id="rId1" Type="http://schemas.openxmlformats.org/officeDocument/2006/relationships/slideLayout" Target="../slideLayouts/slideLayout1.xml"/></rel:Relationships>
</file>

<file path=ppt/slides/_rels/slide12.xml.rels><?xml version='1.0' encoding='UTF-8' standalone='yes'?>
<rel:Relationships xmlns:rel="http://schemas.openxmlformats.org/package/2006/relationships"><rel:Relationship Id="rId1" Type="http://schemas.openxmlformats.org/officeDocument/2006/relationships/slideLayout" Target="../slideLayouts/slideLayout1.xml"/></rel:Relationships>
</file>

<file path=ppt/slides/_rels/slide13.xml.rels><?xml version='1.0' encoding='UTF-8' standalone='yes'?>
<rel:Relationships xmlns:rel="http://schemas.openxmlformats.org/package/2006/relationships"><rel:Relationship Id="rId1" Type="http://schemas.openxmlformats.org/officeDocument/2006/relationships/slideLayout" Target="../slideLayouts/slideLayout1.xml"/></rel:Relationships>
</file>

<file path=ppt/slides/_rels/slide14.xml.rels><?xml version='1.0' encoding='UTF-8' standalone='yes'?>
<rel:Relationships xmlns:rel="http://schemas.openxmlformats.org/package/2006/relationships"><rel:Relationship Id="rId1" Type="http://schemas.openxmlformats.org/officeDocument/2006/relationships/slideLayout" Target="../slideLayouts/slideLayout1.xml"/></rel:Relationships>
</file>

<file path=ppt/slides/_rels/slide15.xml.rels><?xml version='1.0' encoding='UTF-8' standalone='yes'?>
<rel:Relationships xmlns:rel="http://schemas.openxmlformats.org/package/2006/relationships"><rel:Relationship Id="rId1" Type="http://schemas.openxmlformats.org/officeDocument/2006/relationships/slideLayout" Target="../slideLayouts/slideLayout1.xml"/></rel:Relationships>
</file>

<file path=ppt/slides/_rels/slide16.xml.rels><?xml version='1.0' encoding='UTF-8' standalone='yes'?>
<rel:Relationships xmlns:rel="http://schemas.openxmlformats.org/package/2006/relationships"><rel:Relationship Id="rId1" Type="http://schemas.openxmlformats.org/officeDocument/2006/relationships/slideLayout" Target="../slideLayouts/slideLayout1.xml"/></rel:Relationships>
</file>

<file path=ppt/slides/_rels/slide17.xml.rels><?xml version='1.0' encoding='UTF-8' standalone='yes'?>
<rel:Relationships xmlns:rel="http://schemas.openxmlformats.org/package/2006/relationships"><rel:Relationship Id="rId1" Type="http://schemas.openxmlformats.org/officeDocument/2006/relationships/slideLayout" Target="../slideLayouts/slideLayout1.xml"/></rel:Relationships>
</file>

<file path=ppt/slides/_rels/slide18.xml.rels><?xml version='1.0' encoding='UTF-8' standalone='yes'?>
<rel:Relationships xmlns:rel="http://schemas.openxmlformats.org/package/2006/relationships"><rel:Relationship Id="rId1" Type="http://schemas.openxmlformats.org/officeDocument/2006/relationships/slideLayout" Target="../slideLayouts/slideLayout1.xml"/></rel:Relationships>
</file>

<file path=ppt/slides/_rels/slide19.xml.rels><?xml version='1.0' encoding='UTF-8' standalone='yes'?>
<rel:Relationships xmlns:rel="http://schemas.openxmlformats.org/package/2006/relationships"><rel:Relationship Id="rId1" Type="http://schemas.openxmlformats.org/officeDocument/2006/relationships/slideLayout" Target="../slideLayouts/slideLayout1.xml"/></rel:Relationships>
</file>

<file path=ppt/slides/_rels/slide20.xml.rels><?xml version='1.0' encoding='UTF-8' standalone='yes'?>
<rel:Relationships xmlns:rel="http://schemas.openxmlformats.org/package/2006/relationships"><rel:Relationship Id="rId1" Type="http://schemas.openxmlformats.org/officeDocument/2006/relationships/slideLayout" Target="../slideLayouts/slideLayout1.xml"/></rel:Relationships>
</file>

<file path=ppt/slides/_rels/slide21.xml.rels><?xml version='1.0' encoding='UTF-8' standalone='yes'?>
<rel:Relationships xmlns:rel="http://schemas.openxmlformats.org/package/2006/relationships"><rel:Relationship Id="rId1" Type="http://schemas.openxmlformats.org/officeDocument/2006/relationships/slideLayout" Target="../slideLayouts/slideLayout1.xml"/></rel:Relationships>
</file>

<file path=ppt/slides/_rels/slide22.xml.rels><?xml version='1.0' encoding='UTF-8' standalone='yes'?>
<rel:Relationships xmlns:rel="http://schemas.openxmlformats.org/package/2006/relationships"><rel:Relationship Id="rId1" Type="http://schemas.openxmlformats.org/officeDocument/2006/relationships/slideLayout" Target="../slideLayouts/slideLayout1.xml"/></rel:Relationships>
</file>

<file path=ppt/slides/_rels/slide23.xml.rels><?xml version='1.0' encoding='UTF-8' standalone='yes'?>
<rel:Relationships xmlns:rel="http://schemas.openxmlformats.org/package/2006/relationships"><rel:Relationship Id="rId1" Type="http://schemas.openxmlformats.org/officeDocument/2006/relationships/slideLayout" Target="../slideLayouts/slideLayout1.xml"/></rel:Relationships>
</file>

<file path=ppt/slides/_rels/slide24.xml.rels><?xml version='1.0' encoding='UTF-8' standalone='yes'?>
<rel:Relationships xmlns:rel="http://schemas.openxmlformats.org/package/2006/relationships"><rel:Relationship Id="rId1" Type="http://schemas.openxmlformats.org/officeDocument/2006/relationships/slideLayout" Target="../slideLayouts/slideLayout1.xml"/></rel:Relationships>
</file>

<file path=ppt/slides/_rels/slide25.xml.rels><?xml version='1.0' encoding='UTF-8' standalone='yes'?>
<rel:Relationships xmlns:rel="http://schemas.openxmlformats.org/package/2006/relationships"><rel:Relationship Id="rId1" Type="http://schemas.openxmlformats.org/officeDocument/2006/relationships/slideLayout" Target="../slideLayouts/slideLayout1.xml"/></rel:Relationships>
</file>

<file path=ppt/slides/_rels/slide26.xml.rels><?xml version='1.0' encoding='UTF-8' standalone='yes'?>
<rel:Relationships xmlns:rel="http://schemas.openxmlformats.org/package/2006/relationships"><rel:Relationship Id="rId1" Type="http://schemas.openxmlformats.org/officeDocument/2006/relationships/slideLayout" Target="../slideLayouts/slideLayout1.xml"/></rel:Relationships>
</file>

<file path=ppt/slides/_rels/slide27.xml.rels><?xml version='1.0' encoding='UTF-8' standalone='yes'?>
<rel:Relationships xmlns:rel="http://schemas.openxmlformats.org/package/2006/relationships"><rel:Relationship Id="rId1" Type="http://schemas.openxmlformats.org/officeDocument/2006/relationships/slideLayout" Target="../slideLayouts/slideLayout1.xml"/></rel:Relationships>
</file>

<file path=ppt/slides/_rels/slide28.xml.rels><?xml version='1.0' encoding='UTF-8' standalone='yes'?>
<rel:Relationships xmlns:rel="http://schemas.openxmlformats.org/package/2006/relationships"><rel:Relationship Id="rId1" Type="http://schemas.openxmlformats.org/officeDocument/2006/relationships/slideLayout" Target="../slideLayouts/slideLayout1.xml"/></rel:Relationships>
</file>

<file path=ppt/slides/_rels/slide29.xml.rels><?xml version='1.0' encoding='UTF-8' standalone='yes'?>
<rel:Relationships xmlns:rel="http://schemas.openxmlformats.org/package/2006/relationships"><rel:Relationship Id="rId1" Type="http://schemas.openxmlformats.org/officeDocument/2006/relationships/slideLayout" Target="../slideLayouts/slideLayout1.xml"/></rel:Relationships>
</file>

<file path=ppt/slides/_rels/slide30.xml.rels><?xml version='1.0' encoding='UTF-8' standalone='yes'?>
<rel:Relationships xmlns:rel="http://schemas.openxmlformats.org/package/2006/relationships"><rel:Relationship Id="rId1" Type="http://schemas.openxmlformats.org/officeDocument/2006/relationships/slideLayout" Target="../slideLayouts/slideLayout1.xml"/></rel:Relationships>
</file>

<file path=ppt/slides/_rels/slide31.xml.rels><?xml version='1.0' encoding='UTF-8' standalone='yes'?>
<rel:Relationships xmlns:rel="http://schemas.openxmlformats.org/package/2006/relationships"><rel:Relationship Id="rId1" Type="http://schemas.openxmlformats.org/officeDocument/2006/relationships/slideLayout" Target="../slideLayouts/slideLayout1.xml"/></rel:Relationships>
</file>

<file path=ppt/slides/_rels/slide32.xml.rels><?xml version='1.0' encoding='UTF-8' standalone='yes'?>
<rel:Relationships xmlns:rel="http://schemas.openxmlformats.org/package/2006/relationships"><rel:Relationship Id="rId1" Type="http://schemas.openxmlformats.org/officeDocument/2006/relationships/slideLayout" Target="../slideLayouts/slideLayout1.xml"/></rel:Relationships>
</file>

<file path=ppt/slides/_rels/slide33.xml.rels><?xml version='1.0' encoding='UTF-8' standalone='yes'?>
<rel:Relationships xmlns:rel="http://schemas.openxmlformats.org/package/2006/relationships"><rel:Relationship Id="rId1" Type="http://schemas.openxmlformats.org/officeDocument/2006/relationships/slideLayout" Target="../slideLayouts/slideLayout1.xml"/></rel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0"/>
            <a:ext cx="4114800" cy="647510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0" y="642938"/>
            <a:ext cx="4114800" cy="647510"/>
          </a:xfrm>
          <a:prstGeom prst="rect">
            <a:avLst/>
          </a:prstGeom>
          <a:solidFill>
            <a:srgbClr val="00DB75">
              <a:alpha val="6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029200" y="1285875"/>
            <a:ext cx="4114800" cy="647510"/>
          </a:xfrm>
          <a:prstGeom prst="rect">
            <a:avLst/>
          </a:prstGeom>
          <a:solidFill>
            <a:srgbClr val="00B661">
              <a:alpha val="63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029200" y="1928813"/>
            <a:ext cx="4114800" cy="647510"/>
          </a:xfrm>
          <a:prstGeom prst="rect">
            <a:avLst/>
          </a:prstGeom>
          <a:solidFill>
            <a:srgbClr val="00924E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029200" y="2571750"/>
            <a:ext cx="4114800" cy="647510"/>
          </a:xfrm>
          <a:prstGeom prst="rect">
            <a:avLst/>
          </a:prstGeom>
          <a:solidFill>
            <a:srgbClr val="006D3A">
              <a:alpha val="67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029200" y="3214688"/>
            <a:ext cx="4114800" cy="647510"/>
          </a:xfrm>
          <a:prstGeom prst="rect">
            <a:avLst/>
          </a:prstGeom>
          <a:solidFill>
            <a:srgbClr val="004927">
              <a:alpha val="69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0" y="3857625"/>
            <a:ext cx="4114800" cy="647510"/>
          </a:xfrm>
          <a:prstGeom prst="rect">
            <a:avLst/>
          </a:prstGeom>
          <a:solidFill>
            <a:srgbClr val="002413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0" y="4500563"/>
            <a:ext cx="4114800" cy="647510"/>
          </a:xfrm>
          <a:prstGeom prst="rect">
            <a:avLst/>
          </a:prstGeom>
          <a:solidFill>
            <a:srgbClr val="000000">
              <a:alpha val="7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" y="16459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 設計基礎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12648" y="29260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00FF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 LLM Agent 擁有視覺化能力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474720" y="-457200"/>
            <a:ext cx="1828800" cy="1828800"/>
          </a:xfrm>
          <a:prstGeom prst="donut">
            <a:avLst/>
          </a:prstGeom>
          <a:solidFill>
            <a:srgbClr val="00FF88">
              <a:alpha val="12000"/>
            </a:srgbClr>
          </a:solidFill>
          <a:ln w="508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3200400"/>
            <a:ext cx="1371600" cy="1371600"/>
          </a:xfrm>
          <a:prstGeom prst="donut">
            <a:avLst/>
          </a:prstGeom>
          <a:solidFill>
            <a:srgbClr val="8888AA">
              <a:alpha val="10000"/>
            </a:srgbClr>
          </a:solidFill>
          <a:ln w="3810">
            <a:solidFill>
              <a:srgbClr val="8888AA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0" y="4114800"/>
            <a:ext cx="365760" cy="365760"/>
          </a:xfrm>
          <a:prstGeom prst="diamond">
            <a:avLst/>
          </a:prstGeom>
          <a:solidFill>
            <a:srgbClr val="00FF88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1554480"/>
            <a:ext cx="2011680" cy="2011680"/>
          </a:xfrm>
          <a:prstGeom prst="donut">
            <a:avLst/>
          </a:prstGeom>
          <a:solidFill>
            <a:srgbClr val="8888AA">
              <a:alpha val="8000"/>
            </a:srgbClr>
          </a:solidFill>
          <a:ln w="6350">
            <a:solidFill>
              <a:srgbClr val="8888A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為什麼需要 SKILL 設計？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188720"/>
            <a:ext cx="3867912" cy="1645920"/>
          </a:xfrm>
          <a:prstGeom prst="roundRect">
            <a:avLst>
              <a:gd name="adj" fmla="val 4444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72284" y="1325880"/>
            <a:ext cx="502920" cy="50292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12648" y="1325880"/>
            <a:ext cx="3867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49808" y="1828800"/>
            <a:ext cx="35935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資料分析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2103120"/>
            <a:ext cx="359359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 CSV 資料轉換為圖表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3867912" cy="1645920"/>
          </a:xfrm>
          <a:prstGeom prst="roundRect">
            <a:avLst>
              <a:gd name="adj" fmla="val 4444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23076" y="1325880"/>
            <a:ext cx="502920" cy="50292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325880"/>
            <a:ext cx="3867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00600" y="1828800"/>
            <a:ext cx="35935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商業儀表板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103120"/>
            <a:ext cx="359359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即時可視化業績指標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" y="3017520"/>
            <a:ext cx="3867912" cy="1645920"/>
          </a:xfrm>
          <a:prstGeom prst="roundRect">
            <a:avLst>
              <a:gd name="adj" fmla="val 4444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72284" y="3154680"/>
            <a:ext cx="502920" cy="50292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" y="3154680"/>
            <a:ext cx="3867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49808" y="3657600"/>
            <a:ext cx="35935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教育簡報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" y="3931920"/>
            <a:ext cx="359359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自動生成說明性圖表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3017520"/>
            <a:ext cx="3867912" cy="1645920"/>
          </a:xfrm>
          <a:prstGeom prst="roundRect">
            <a:avLst>
              <a:gd name="adj" fmla="val 4444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23076" y="3154680"/>
            <a:ext cx="502920" cy="50292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3154680"/>
            <a:ext cx="3867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🖼️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800600" y="3657600"/>
            <a:ext cx="35935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圖像創作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3931920"/>
            <a:ext cx="359359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產生行銷素材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1371600"/>
            <a:ext cx="791870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3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 vs Tool vs Function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3657600" y="3200400"/>
            <a:ext cx="1828800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" y="3383280"/>
            <a:ext cx="79187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FF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三個層級的抽象差異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498080" y="640080"/>
            <a:ext cx="548640" cy="548640"/>
          </a:xfrm>
          <a:prstGeom prst="ellipse">
            <a:avLst/>
          </a:prstGeom>
          <a:solidFill>
            <a:srgbClr val="00FF88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274052" y="507492"/>
            <a:ext cx="356616" cy="356616"/>
          </a:xfrm>
          <a:prstGeom prst="ellipse">
            <a:avLst/>
          </a:prstGeom>
          <a:solidFill>
            <a:srgbClr val="00FF88">
              <a:alpha val="1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909560" y="457200"/>
            <a:ext cx="274320" cy="274320"/>
          </a:xfrm>
          <a:prstGeom prst="ellipse">
            <a:avLst/>
          </a:prstGeom>
          <a:solidFill>
            <a:srgbClr val="00FF88">
              <a:alpha val="1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438644" y="1037844"/>
            <a:ext cx="301752" cy="301752"/>
          </a:xfrm>
          <a:prstGeom prst="ellipse">
            <a:avLst/>
          </a:prstGeom>
          <a:solidFill>
            <a:srgbClr val="00FF88">
              <a:alpha val="1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3931920"/>
            <a:ext cx="365760" cy="365760"/>
          </a:xfrm>
          <a:prstGeom prst="ellipse">
            <a:avLst/>
          </a:prstGeom>
          <a:solidFill>
            <a:srgbClr val="00FF88">
              <a:alpha val="2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32688" y="3767328"/>
            <a:ext cx="237744" cy="237744"/>
          </a:xfrm>
          <a:prstGeom prst="ellipse">
            <a:avLst/>
          </a:prstGeom>
          <a:solidFill>
            <a:srgbClr val="00FF88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554480" y="3703320"/>
            <a:ext cx="182880" cy="182880"/>
          </a:xfrm>
          <a:prstGeom prst="ellipse">
            <a:avLst/>
          </a:prstGeom>
          <a:solidFill>
            <a:srgbClr val="00FF88">
              <a:alpha val="14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層級對比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188720"/>
          <a:ext cx="7918704" cy="3474720"/>
        </p:xfrm>
        <a:graphic>
          <a:graphicData uri="http://schemas.openxmlformats.org/drawingml/2006/table">
            <a:tbl>
              <a:tblPr/>
              <a:tblGrid>
                <a:gridCol w="1828800"/>
                <a:gridCol w="2029968"/>
                <a:gridCol w="2029968"/>
                <a:gridCol w="2029968"/>
              </a:tblGrid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概念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層級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定義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範例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Function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單一可調用的程式函數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generate_bar_chart()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Tool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多個 Function 組合 + 使用說明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Chart Tool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SKILL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完整的能力系統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數據可視化 SKILL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 語法範例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188720"/>
            <a:ext cx="7918704" cy="3017520"/>
          </a:xfrm>
          <a:prstGeom prst="rect">
            <a:avLst/>
          </a:prstGeom>
          <a:solidFill>
            <a:srgbClr val="12122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chart-generation-skill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version: "1.0.0"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生成專業級圖表的技能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trigger: 當用戶需要圖表時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圖表生成技能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使用流程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分析需求 → 確定圖表類型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驗證輸入 → JSON Schema 檢查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生成圖表 → 調用渲染引擎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8572" cy="5148072"/>
          </a:xfrm>
          <a:prstGeom prst="rect">
            <a:avLst/>
          </a:prstGeom>
          <a:solidFill>
            <a:srgbClr val="00FF88">
              <a:alpha val="-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524000" y="857250"/>
            <a:ext cx="7624572" cy="4290822"/>
          </a:xfrm>
          <a:prstGeom prst="rect">
            <a:avLst/>
          </a:prstGeom>
          <a:solidFill>
            <a:srgbClr val="03CF74">
              <a:alpha val="-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048000" y="1714500"/>
            <a:ext cx="6100572" cy="3433572"/>
          </a:xfrm>
          <a:prstGeom prst="rect">
            <a:avLst/>
          </a:prstGeom>
          <a:solidFill>
            <a:srgbClr val="069F60">
              <a:alpha val="-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2571750"/>
            <a:ext cx="4576572" cy="2576322"/>
          </a:xfrm>
          <a:prstGeom prst="rect">
            <a:avLst/>
          </a:prstGeom>
          <a:solidFill>
            <a:srgbClr val="096F4B">
              <a:alpha val="-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0" y="3429000"/>
            <a:ext cx="3052572" cy="1719072"/>
          </a:xfrm>
          <a:prstGeom prst="rect">
            <a:avLst/>
          </a:prstGeom>
          <a:solidFill>
            <a:srgbClr val="0C3F37">
              <a:alpha val="-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20000" y="4286250"/>
            <a:ext cx="1528572" cy="861822"/>
          </a:xfrm>
          <a:prstGeom prst="rect">
            <a:avLst/>
          </a:prstGeom>
          <a:solidFill>
            <a:srgbClr val="0F0F23">
              <a:alpha val="1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503920" y="0"/>
            <a:ext cx="160020" cy="160020"/>
          </a:xfrm>
          <a:prstGeom prst="ellipse">
            <a:avLst/>
          </a:prstGeom>
          <a:solidFill>
            <a:srgbClr val="00FF88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619134" y="115214"/>
            <a:ext cx="134417" cy="134417"/>
          </a:xfrm>
          <a:prstGeom prst="ellipse">
            <a:avLst/>
          </a:prstGeom>
          <a:solidFill>
            <a:srgbClr val="00FF88">
              <a:alpha val="9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734349" y="230429"/>
            <a:ext cx="108814" cy="108814"/>
          </a:xfrm>
          <a:prstGeom prst="ellipse">
            <a:avLst/>
          </a:prstGeom>
          <a:solidFill>
            <a:srgbClr val="00FF88">
              <a:alpha val="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411980"/>
            <a:ext cx="731520" cy="731520"/>
          </a:xfrm>
          <a:prstGeom prst="arc">
            <a:avLst/>
          </a:prstGeom>
          <a:solidFill>
            <a:srgbClr val="00FF88">
              <a:alpha val="10000"/>
            </a:srgbClr>
          </a:solidFill>
          <a:ln w="6350">
            <a:solidFill>
              <a:srgbClr val="00FF8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85666" y="345186"/>
            <a:ext cx="864108" cy="864108"/>
          </a:xfrm>
          <a:prstGeom prst="ellipse">
            <a:avLst/>
          </a:prstGeom>
          <a:solidFill>
            <a:srgbClr val="00FF88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457200"/>
            <a:ext cx="640080" cy="640080"/>
          </a:xfrm>
          <a:prstGeom prst="ellipse">
            <a:avLst/>
          </a:prstGeom>
          <a:solidFill>
            <a:srgbClr val="0F0F23"/>
          </a:solidFill>
          <a:ln w="25400">
            <a:solidFill>
              <a:srgbClr val="00FF88"/>
            </a:solidFill>
            <a:prstDash val="solid"/>
          </a:ln>
          <a:effectLst>
            <a:outerShdw sx="100000" sy="100000" kx="0" ky="0" algn="bl" rotWithShape="0" blurRad="76200" dist="25400" dir="2700000">
              <a:srgbClr val="00FF88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9768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3200400" y="2194560"/>
            <a:ext cx="118872" cy="27432"/>
          </a:xfrm>
          <a:prstGeom prst="rect">
            <a:avLst/>
          </a:prstGeom>
          <a:solidFill>
            <a:srgbClr val="00FF88">
              <a:alpha val="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2194560"/>
            <a:ext cx="118872" cy="27432"/>
          </a:xfrm>
          <a:prstGeom prst="rect">
            <a:avLst/>
          </a:prstGeom>
          <a:solidFill>
            <a:srgbClr val="00FF88">
              <a:alpha val="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3147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6863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4290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8006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5433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9149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7719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1435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8862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2578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3721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291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6007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434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150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457700" y="2194560"/>
            <a:ext cx="118872" cy="27432"/>
          </a:xfrm>
          <a:prstGeom prst="rect">
            <a:avLst/>
          </a:prstGeom>
          <a:solidFill>
            <a:srgbClr val="00FF88">
              <a:alpha val="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12648" y="2468880"/>
            <a:ext cx="79187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設計模式深度剖析</a:t>
            </a:r>
            <a:endParaRPr lang="en-US" sz="3000" dirty="0"/>
          </a:p>
        </p:txBody>
      </p:sp>
      <p:sp>
        <p:nvSpPr>
          <p:cNvPr id="40" name="Shape 38"/>
          <p:cNvSpPr/>
          <p:nvPr/>
        </p:nvSpPr>
        <p:spPr>
          <a:xfrm>
            <a:off x="365760" y="365760"/>
            <a:ext cx="1097280" cy="1097280"/>
          </a:xfrm>
          <a:prstGeom prst="donut">
            <a:avLst/>
          </a:prstGeom>
          <a:solidFill>
            <a:srgbClr val="00FF88">
              <a:alpha val="6000"/>
            </a:srgbClr>
          </a:solidFill>
          <a:ln w="6350">
            <a:solidFill>
              <a:srgbClr val="00FF8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01000" y="3794760"/>
            <a:ext cx="822960" cy="822960"/>
          </a:xfrm>
          <a:prstGeom prst="donut">
            <a:avLst/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四大設計模式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280160"/>
            <a:ext cx="1808226" cy="3291840"/>
          </a:xfrm>
          <a:prstGeom prst="roundRect">
            <a:avLst>
              <a:gd name="adj" fmla="val 50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2648" y="1280160"/>
            <a:ext cx="1808226" cy="45720"/>
          </a:xfrm>
          <a:prstGeom prst="roundRect">
            <a:avLst>
              <a:gd name="adj" fmla="val 200000"/>
            </a:avLst>
          </a:prstGeom>
          <a:solidFill>
            <a:srgbClr val="00FF88"/>
          </a:solidFill>
          <a:ln/>
        </p:spPr>
      </p:sp>
      <p:sp>
        <p:nvSpPr>
          <p:cNvPr id="8" name="Shape 6"/>
          <p:cNvSpPr/>
          <p:nvPr/>
        </p:nvSpPr>
        <p:spPr>
          <a:xfrm>
            <a:off x="612648" y="1303020"/>
            <a:ext cx="1808226" cy="228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9" name="Shape 7"/>
          <p:cNvSpPr/>
          <p:nvPr/>
        </p:nvSpPr>
        <p:spPr>
          <a:xfrm>
            <a:off x="1242441" y="1508760"/>
            <a:ext cx="548640" cy="54864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42441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49808" y="2194560"/>
            <a:ext cx="153390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Tool Calling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560320"/>
            <a:ext cx="153390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每個圖表類型是獨立 Tool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49474" y="1280160"/>
            <a:ext cx="1808226" cy="3291840"/>
          </a:xfrm>
          <a:prstGeom prst="roundRect">
            <a:avLst>
              <a:gd name="adj" fmla="val 50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49474" y="1280160"/>
            <a:ext cx="1808226" cy="45720"/>
          </a:xfrm>
          <a:prstGeom prst="roundRect">
            <a:avLst>
              <a:gd name="adj" fmla="val 200000"/>
            </a:avLst>
          </a:prstGeom>
          <a:solidFill>
            <a:srgbClr val="00FF88"/>
          </a:solidFill>
          <a:ln/>
        </p:spPr>
      </p:sp>
      <p:sp>
        <p:nvSpPr>
          <p:cNvPr id="15" name="Shape 13"/>
          <p:cNvSpPr/>
          <p:nvPr/>
        </p:nvSpPr>
        <p:spPr>
          <a:xfrm>
            <a:off x="2649474" y="1303020"/>
            <a:ext cx="1808226" cy="228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6" name="Shape 14"/>
          <p:cNvSpPr/>
          <p:nvPr/>
        </p:nvSpPr>
        <p:spPr>
          <a:xfrm>
            <a:off x="3279267" y="1508760"/>
            <a:ext cx="548640" cy="54864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79267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786634" y="2194560"/>
            <a:ext cx="153390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Structured Output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86634" y="2560320"/>
            <a:ext cx="153390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輸出 JSON 轉換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280160"/>
            <a:ext cx="1808226" cy="3291840"/>
          </a:xfrm>
          <a:prstGeom prst="roundRect">
            <a:avLst>
              <a:gd name="adj" fmla="val 50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86300" y="1280160"/>
            <a:ext cx="1808226" cy="45720"/>
          </a:xfrm>
          <a:prstGeom prst="roundRect">
            <a:avLst>
              <a:gd name="adj" fmla="val 200000"/>
            </a:avLst>
          </a:prstGeom>
          <a:solidFill>
            <a:srgbClr val="00FF88"/>
          </a:solidFill>
          <a:ln/>
        </p:spPr>
      </p:sp>
      <p:sp>
        <p:nvSpPr>
          <p:cNvPr id="22" name="Shape 20"/>
          <p:cNvSpPr/>
          <p:nvPr/>
        </p:nvSpPr>
        <p:spPr>
          <a:xfrm>
            <a:off x="4686300" y="1303020"/>
            <a:ext cx="1808226" cy="228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3" name="Shape 21"/>
          <p:cNvSpPr/>
          <p:nvPr/>
        </p:nvSpPr>
        <p:spPr>
          <a:xfrm>
            <a:off x="5316093" y="1508760"/>
            <a:ext cx="548640" cy="54864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16093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823460" y="2194560"/>
            <a:ext cx="153390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Code Interpreter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23460" y="2560320"/>
            <a:ext cx="153390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生成執行碼在沙盒執行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23126" y="1280160"/>
            <a:ext cx="1808226" cy="3291840"/>
          </a:xfrm>
          <a:prstGeom prst="roundRect">
            <a:avLst>
              <a:gd name="adj" fmla="val 50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23126" y="1280160"/>
            <a:ext cx="1808226" cy="45720"/>
          </a:xfrm>
          <a:prstGeom prst="roundRect">
            <a:avLst>
              <a:gd name="adj" fmla="val 200000"/>
            </a:avLst>
          </a:prstGeom>
          <a:solidFill>
            <a:srgbClr val="00FF88"/>
          </a:solidFill>
          <a:ln/>
        </p:spPr>
      </p:sp>
      <p:sp>
        <p:nvSpPr>
          <p:cNvPr id="29" name="Shape 27"/>
          <p:cNvSpPr/>
          <p:nvPr/>
        </p:nvSpPr>
        <p:spPr>
          <a:xfrm>
            <a:off x="6723126" y="1303020"/>
            <a:ext cx="1808226" cy="228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0" name="Shape 28"/>
          <p:cNvSpPr/>
          <p:nvPr/>
        </p:nvSpPr>
        <p:spPr>
          <a:xfrm>
            <a:off x="7352919" y="1508760"/>
            <a:ext cx="548640" cy="54864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352919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860286" y="2194560"/>
            <a:ext cx="153390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Generative UI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60286" y="2560320"/>
            <a:ext cx="153390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佈局×樣式雙維度控制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Calling vs Structured Output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1188720"/>
            <a:ext cx="3776472" cy="3291840"/>
          </a:xfrm>
          <a:prstGeom prst="rect">
            <a:avLst>
              <a:gd name="adj" fmla="val 1667"/>
            </a:avLst>
          </a:prstGeom>
          <a:solidFill>
            <a:srgbClr val="1A2A3A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188720"/>
            <a:ext cx="3776472" cy="73152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325880"/>
            <a:ext cx="3776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Tool Calling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1691640"/>
            <a:ext cx="3410712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C8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每個圖表類型是獨立函數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C8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精細控制參數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C8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適合穩定的圖表類型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26864" y="1188720"/>
            <a:ext cx="3776472" cy="3291840"/>
          </a:xfrm>
          <a:prstGeom prst="rect">
            <a:avLst>
              <a:gd name="adj" fmla="val 1667"/>
            </a:avLst>
          </a:prstGeom>
          <a:solidFill>
            <a:srgbClr val="2A1A2A"/>
          </a:solidFill>
          <a:ln/>
        </p:spPr>
      </p:sp>
      <p:sp>
        <p:nvSpPr>
          <p:cNvPr id="9" name="Shape 7"/>
          <p:cNvSpPr/>
          <p:nvPr/>
        </p:nvSpPr>
        <p:spPr>
          <a:xfrm>
            <a:off x="4626864" y="1188720"/>
            <a:ext cx="3776472" cy="73152"/>
          </a:xfrm>
          <a:prstGeom prst="rect">
            <a:avLst/>
          </a:prstGeom>
          <a:solidFill>
            <a:srgbClr val="3A1A2A"/>
          </a:solidFill>
          <a:ln/>
        </p:spPr>
      </p:sp>
      <p:sp>
        <p:nvSpPr>
          <p:cNvPr id="10" name="Text 8"/>
          <p:cNvSpPr/>
          <p:nvPr/>
        </p:nvSpPr>
        <p:spPr>
          <a:xfrm>
            <a:off x="4626864" y="1325880"/>
            <a:ext cx="3776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Structured Output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9744" y="1691640"/>
            <a:ext cx="3410712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C8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只負責輸出 JSON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C8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解耦渲染引擎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C8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更大的彈性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Interpreter 流程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188720"/>
            <a:ext cx="1773936" cy="3383280"/>
          </a:xfrm>
          <a:prstGeom prst="roundRect">
            <a:avLst>
              <a:gd name="adj" fmla="val 5155"/>
            </a:avLst>
          </a:prstGeom>
          <a:solidFill>
            <a:srgbClr val="1A2A3A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2648" y="1188720"/>
            <a:ext cx="1773936" cy="54864"/>
          </a:xfrm>
          <a:prstGeom prst="roundRect">
            <a:avLst>
              <a:gd name="adj" fmla="val 166667"/>
            </a:avLst>
          </a:prstGeom>
          <a:solidFill>
            <a:srgbClr val="00FF88"/>
          </a:solidFill>
          <a:ln/>
        </p:spPr>
      </p:sp>
      <p:sp>
        <p:nvSpPr>
          <p:cNvPr id="8" name="Shape 6"/>
          <p:cNvSpPr/>
          <p:nvPr/>
        </p:nvSpPr>
        <p:spPr>
          <a:xfrm>
            <a:off x="612648" y="1216152"/>
            <a:ext cx="1773936" cy="27432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9" name="Text 7"/>
          <p:cNvSpPr/>
          <p:nvPr/>
        </p:nvSpPr>
        <p:spPr>
          <a:xfrm>
            <a:off x="1316736" y="1371600"/>
            <a:ext cx="365760" cy="365760"/>
          </a:xfrm>
          <a:prstGeom prst="ellipse">
            <a:avLst/>
          </a:prstGeom>
          <a:solidFill>
            <a:srgbClr val="00FF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1874520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生成代碼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" y="2423160"/>
            <a:ext cx="149961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8C8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根據需求生成 Python 程式碼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86584" y="2880360"/>
            <a:ext cx="274320" cy="0"/>
          </a:xfrm>
          <a:prstGeom prst="line">
            <a:avLst/>
          </a:prstGeom>
          <a:noFill/>
          <a:ln w="25400">
            <a:solidFill>
              <a:srgbClr val="8888A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660904" y="1188720"/>
            <a:ext cx="1773936" cy="3383280"/>
          </a:xfrm>
          <a:prstGeom prst="roundRect">
            <a:avLst>
              <a:gd name="adj" fmla="val 5155"/>
            </a:avLst>
          </a:prstGeom>
          <a:solidFill>
            <a:srgbClr val="1A2A3A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60904" y="1188720"/>
            <a:ext cx="1773936" cy="54864"/>
          </a:xfrm>
          <a:prstGeom prst="roundRect">
            <a:avLst>
              <a:gd name="adj" fmla="val 166667"/>
            </a:avLst>
          </a:prstGeom>
          <a:solidFill>
            <a:srgbClr val="00FF88"/>
          </a:solidFill>
          <a:ln/>
        </p:spPr>
      </p:sp>
      <p:sp>
        <p:nvSpPr>
          <p:cNvPr id="15" name="Shape 13"/>
          <p:cNvSpPr/>
          <p:nvPr/>
        </p:nvSpPr>
        <p:spPr>
          <a:xfrm>
            <a:off x="2660904" y="1216152"/>
            <a:ext cx="1773936" cy="27432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6" name="Text 14"/>
          <p:cNvSpPr/>
          <p:nvPr/>
        </p:nvSpPr>
        <p:spPr>
          <a:xfrm>
            <a:off x="3364992" y="1371600"/>
            <a:ext cx="365760" cy="365760"/>
          </a:xfrm>
          <a:prstGeom prst="ellipse">
            <a:avLst/>
          </a:prstGeom>
          <a:solidFill>
            <a:srgbClr val="00FF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98064" y="1874520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安全檢查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98064" y="2423160"/>
            <a:ext cx="149961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8C8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檢查禁用模組和關鍵字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34840" y="2880360"/>
            <a:ext cx="274320" cy="0"/>
          </a:xfrm>
          <a:prstGeom prst="line">
            <a:avLst/>
          </a:prstGeom>
          <a:noFill/>
          <a:ln w="25400">
            <a:solidFill>
              <a:srgbClr val="8888A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709160" y="1188720"/>
            <a:ext cx="1773936" cy="3383280"/>
          </a:xfrm>
          <a:prstGeom prst="roundRect">
            <a:avLst>
              <a:gd name="adj" fmla="val 5155"/>
            </a:avLst>
          </a:prstGeom>
          <a:solidFill>
            <a:srgbClr val="1A2A3A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188720"/>
            <a:ext cx="1773936" cy="54864"/>
          </a:xfrm>
          <a:prstGeom prst="roundRect">
            <a:avLst>
              <a:gd name="adj" fmla="val 166667"/>
            </a:avLst>
          </a:prstGeom>
          <a:solidFill>
            <a:srgbClr val="00FF88"/>
          </a:solidFill>
          <a:ln/>
        </p:spPr>
      </p:sp>
      <p:sp>
        <p:nvSpPr>
          <p:cNvPr id="22" name="Shape 20"/>
          <p:cNvSpPr/>
          <p:nvPr/>
        </p:nvSpPr>
        <p:spPr>
          <a:xfrm>
            <a:off x="4709160" y="1216152"/>
            <a:ext cx="1773936" cy="27432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3" name="Text 21"/>
          <p:cNvSpPr/>
          <p:nvPr/>
        </p:nvSpPr>
        <p:spPr>
          <a:xfrm>
            <a:off x="5413248" y="1371600"/>
            <a:ext cx="365760" cy="365760"/>
          </a:xfrm>
          <a:prstGeom prst="ellipse">
            <a:avLst/>
          </a:prstGeom>
          <a:solidFill>
            <a:srgbClr val="00FF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46320" y="1874520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沙盒執行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46320" y="2423160"/>
            <a:ext cx="149961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8C8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在受限環境中執行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83096" y="2880360"/>
            <a:ext cx="274320" cy="0"/>
          </a:xfrm>
          <a:prstGeom prst="line">
            <a:avLst/>
          </a:prstGeom>
          <a:noFill/>
          <a:ln w="25400">
            <a:solidFill>
              <a:srgbClr val="8888A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757416" y="1188720"/>
            <a:ext cx="1773936" cy="3383280"/>
          </a:xfrm>
          <a:prstGeom prst="roundRect">
            <a:avLst>
              <a:gd name="adj" fmla="val 5155"/>
            </a:avLst>
          </a:prstGeom>
          <a:solidFill>
            <a:srgbClr val="1A2A3A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57416" y="1188720"/>
            <a:ext cx="1773936" cy="54864"/>
          </a:xfrm>
          <a:prstGeom prst="roundRect">
            <a:avLst>
              <a:gd name="adj" fmla="val 166667"/>
            </a:avLst>
          </a:prstGeom>
          <a:solidFill>
            <a:srgbClr val="00FF88"/>
          </a:solidFill>
          <a:ln/>
        </p:spPr>
      </p:sp>
      <p:sp>
        <p:nvSpPr>
          <p:cNvPr id="29" name="Shape 27"/>
          <p:cNvSpPr/>
          <p:nvPr/>
        </p:nvSpPr>
        <p:spPr>
          <a:xfrm>
            <a:off x="6757416" y="1216152"/>
            <a:ext cx="1773936" cy="27432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0" name="Text 28"/>
          <p:cNvSpPr/>
          <p:nvPr/>
        </p:nvSpPr>
        <p:spPr>
          <a:xfrm>
            <a:off x="7461504" y="1371600"/>
            <a:ext cx="365760" cy="365760"/>
          </a:xfrm>
          <a:prstGeom prst="ellipse">
            <a:avLst/>
          </a:prstGeom>
          <a:solidFill>
            <a:srgbClr val="00FF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94576" y="1874520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捕捉輸出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94576" y="2423160"/>
            <a:ext cx="149961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8C8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獲取生成的圖片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模式選擇決策樹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Shape 4"/>
          <p:cNvSpPr/>
          <p:nvPr/>
        </p:nvSpPr>
        <p:spPr>
          <a:xfrm>
            <a:off x="3931920" y="118872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00FF88"/>
          </a:solidFill>
          <a:ln w="19050">
            <a:solidFill>
              <a:srgbClr val="00FF88"/>
            </a:solidFill>
            <a:prstDash val="solid"/>
          </a:ln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931920" y="11887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需要什麼樣的圖表能力？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645920"/>
            <a:ext cx="0" cy="548640"/>
          </a:xfrm>
          <a:prstGeom prst="line">
            <a:avLst/>
          </a:prstGeom>
          <a:noFill/>
          <a:ln w="15240">
            <a:solidFill>
              <a:srgbClr val="00FF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0280" y="2194560"/>
            <a:ext cx="2331720" cy="0"/>
          </a:xfrm>
          <a:prstGeom prst="line">
            <a:avLst/>
          </a:prstGeom>
          <a:noFill/>
          <a:ln w="15240">
            <a:solidFill>
              <a:srgbClr val="00FF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2194560"/>
            <a:ext cx="0" cy="548640"/>
          </a:xfrm>
          <a:prstGeom prst="line">
            <a:avLst/>
          </a:prstGeom>
          <a:noFill/>
          <a:ln w="15240">
            <a:solidFill>
              <a:srgbClr val="00FF8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600200" y="274320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00FF88"/>
            </a:solidFill>
            <a:prstDash val="solid"/>
          </a:ln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00200" y="2743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</a:rPr>
              <a:t>彈性/通用性 → Code Interpreter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1645920"/>
            <a:ext cx="0" cy="548640"/>
          </a:xfrm>
          <a:prstGeom prst="line">
            <a:avLst/>
          </a:prstGeom>
          <a:noFill/>
          <a:ln w="15240">
            <a:solidFill>
              <a:srgbClr val="00FF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94760" y="2194560"/>
            <a:ext cx="777240" cy="0"/>
          </a:xfrm>
          <a:prstGeom prst="line">
            <a:avLst/>
          </a:prstGeom>
          <a:noFill/>
          <a:ln w="15240">
            <a:solidFill>
              <a:srgbClr val="00FF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94760" y="2194560"/>
            <a:ext cx="0" cy="548640"/>
          </a:xfrm>
          <a:prstGeom prst="line">
            <a:avLst/>
          </a:prstGeom>
          <a:noFill/>
          <a:ln w="15240">
            <a:solidFill>
              <a:srgbClr val="00FF8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154680" y="274320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00FF88"/>
            </a:solidFill>
            <a:prstDash val="solid"/>
          </a:ln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54680" y="2743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</a:rPr>
              <a:t>精確控制 → Tool Calling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1645920"/>
            <a:ext cx="0" cy="548640"/>
          </a:xfrm>
          <a:prstGeom prst="line">
            <a:avLst/>
          </a:prstGeom>
          <a:noFill/>
          <a:ln w="15240">
            <a:solidFill>
              <a:srgbClr val="00FF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194560"/>
            <a:ext cx="777240" cy="0"/>
          </a:xfrm>
          <a:prstGeom prst="line">
            <a:avLst/>
          </a:prstGeom>
          <a:noFill/>
          <a:ln w="15240">
            <a:solidFill>
              <a:srgbClr val="00FF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49240" y="2194560"/>
            <a:ext cx="0" cy="548640"/>
          </a:xfrm>
          <a:prstGeom prst="line">
            <a:avLst/>
          </a:prstGeom>
          <a:noFill/>
          <a:ln w="15240">
            <a:solidFill>
              <a:srgbClr val="00FF8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709160" y="274320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00FF88"/>
            </a:solidFill>
            <a:prstDash val="solid"/>
          </a:ln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9160" y="2743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</a:rPr>
              <a:t>結構化數據 → Structured Output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1645920"/>
            <a:ext cx="0" cy="548640"/>
          </a:xfrm>
          <a:prstGeom prst="line">
            <a:avLst/>
          </a:prstGeom>
          <a:noFill/>
          <a:ln w="15240">
            <a:solidFill>
              <a:srgbClr val="00FF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2194560"/>
            <a:ext cx="2331720" cy="0"/>
          </a:xfrm>
          <a:prstGeom prst="line">
            <a:avLst/>
          </a:prstGeom>
          <a:noFill/>
          <a:ln w="15240">
            <a:solidFill>
              <a:srgbClr val="00FF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2194560"/>
            <a:ext cx="0" cy="548640"/>
          </a:xfrm>
          <a:prstGeom prst="line">
            <a:avLst/>
          </a:prstGeom>
          <a:noFill/>
          <a:ln w="15240">
            <a:solidFill>
              <a:srgbClr val="00FF8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263640" y="274320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00FF88"/>
            </a:solidFill>
            <a:prstDash val="solid"/>
          </a:ln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63640" y="2743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</a:rPr>
              <a:t>豐富視覺 → Generative UI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模式選擇建議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280160"/>
            <a:ext cx="2517648" cy="3291840"/>
          </a:xfrm>
          <a:prstGeom prst="roundRect">
            <a:avLst>
              <a:gd name="adj" fmla="val 3632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2648" y="1280160"/>
            <a:ext cx="54864" cy="3291840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63040"/>
            <a:ext cx="2243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需要精細控制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2243328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 Tool Calling 模式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13176" y="1280160"/>
            <a:ext cx="2517648" cy="3291840"/>
          </a:xfrm>
          <a:prstGeom prst="roundRect">
            <a:avLst>
              <a:gd name="adj" fmla="val 3632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3176" y="1280160"/>
            <a:ext cx="54864" cy="3291840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12" name="Text 10"/>
          <p:cNvSpPr/>
          <p:nvPr/>
        </p:nvSpPr>
        <p:spPr>
          <a:xfrm>
            <a:off x="3477768" y="1463040"/>
            <a:ext cx="2243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需要彈性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7768" y="1828800"/>
            <a:ext cx="2243328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 Code Interpreter 模式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13704" y="1280160"/>
            <a:ext cx="2517648" cy="3291840"/>
          </a:xfrm>
          <a:prstGeom prst="roundRect">
            <a:avLst>
              <a:gd name="adj" fmla="val 3632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13704" y="1280160"/>
            <a:ext cx="54864" cy="3291840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16" name="Text 14"/>
          <p:cNvSpPr/>
          <p:nvPr/>
        </p:nvSpPr>
        <p:spPr>
          <a:xfrm>
            <a:off x="6178296" y="1463040"/>
            <a:ext cx="2243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需要解耦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78296" y="1828800"/>
            <a:ext cx="2243328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 Structured Output 模式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8572" cy="5148072"/>
          </a:xfrm>
          <a:prstGeom prst="rect">
            <a:avLst/>
          </a:prstGeom>
          <a:solidFill>
            <a:srgbClr val="00FF88">
              <a:alpha val="-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524000" y="857250"/>
            <a:ext cx="7624572" cy="4290822"/>
          </a:xfrm>
          <a:prstGeom prst="rect">
            <a:avLst/>
          </a:prstGeom>
          <a:solidFill>
            <a:srgbClr val="03CF74">
              <a:alpha val="-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048000" y="1714500"/>
            <a:ext cx="6100572" cy="3433572"/>
          </a:xfrm>
          <a:prstGeom prst="rect">
            <a:avLst/>
          </a:prstGeom>
          <a:solidFill>
            <a:srgbClr val="069F60">
              <a:alpha val="-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2571750"/>
            <a:ext cx="4576572" cy="2576322"/>
          </a:xfrm>
          <a:prstGeom prst="rect">
            <a:avLst/>
          </a:prstGeom>
          <a:solidFill>
            <a:srgbClr val="096F4B">
              <a:alpha val="-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0" y="3429000"/>
            <a:ext cx="3052572" cy="1719072"/>
          </a:xfrm>
          <a:prstGeom prst="rect">
            <a:avLst/>
          </a:prstGeom>
          <a:solidFill>
            <a:srgbClr val="0C3F37">
              <a:alpha val="-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20000" y="4286250"/>
            <a:ext cx="1528572" cy="861822"/>
          </a:xfrm>
          <a:prstGeom prst="rect">
            <a:avLst/>
          </a:prstGeom>
          <a:solidFill>
            <a:srgbClr val="0F0F23">
              <a:alpha val="1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503920" y="0"/>
            <a:ext cx="160020" cy="160020"/>
          </a:xfrm>
          <a:prstGeom prst="ellipse">
            <a:avLst/>
          </a:prstGeom>
          <a:solidFill>
            <a:srgbClr val="00FF88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619134" y="115214"/>
            <a:ext cx="134417" cy="134417"/>
          </a:xfrm>
          <a:prstGeom prst="ellipse">
            <a:avLst/>
          </a:prstGeom>
          <a:solidFill>
            <a:srgbClr val="00FF88">
              <a:alpha val="9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734349" y="230429"/>
            <a:ext cx="108814" cy="108814"/>
          </a:xfrm>
          <a:prstGeom prst="ellipse">
            <a:avLst/>
          </a:prstGeom>
          <a:solidFill>
            <a:srgbClr val="00FF88">
              <a:alpha val="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411980"/>
            <a:ext cx="731520" cy="731520"/>
          </a:xfrm>
          <a:prstGeom prst="arc">
            <a:avLst/>
          </a:prstGeom>
          <a:solidFill>
            <a:srgbClr val="00FF88">
              <a:alpha val="10000"/>
            </a:srgbClr>
          </a:solidFill>
          <a:ln w="6350">
            <a:solidFill>
              <a:srgbClr val="00FF8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85666" y="345186"/>
            <a:ext cx="864108" cy="864108"/>
          </a:xfrm>
          <a:prstGeom prst="ellipse">
            <a:avLst/>
          </a:prstGeom>
          <a:solidFill>
            <a:srgbClr val="00FF88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457200"/>
            <a:ext cx="640080" cy="640080"/>
          </a:xfrm>
          <a:prstGeom prst="ellipse">
            <a:avLst/>
          </a:prstGeom>
          <a:solidFill>
            <a:srgbClr val="0F0F23"/>
          </a:solidFill>
          <a:ln w="25400">
            <a:solidFill>
              <a:srgbClr val="00FF88"/>
            </a:solidFill>
            <a:prstDash val="solid"/>
          </a:ln>
          <a:effectLst>
            <a:outerShdw sx="100000" sy="100000" kx="0" ky="0" algn="bl" rotWithShape="0" blurRad="76200" dist="25400" dir="2700000">
              <a:srgbClr val="00FF88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9768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3200400" y="2194560"/>
            <a:ext cx="118872" cy="27432"/>
          </a:xfrm>
          <a:prstGeom prst="rect">
            <a:avLst/>
          </a:prstGeom>
          <a:solidFill>
            <a:srgbClr val="00FF88">
              <a:alpha val="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2194560"/>
            <a:ext cx="118872" cy="27432"/>
          </a:xfrm>
          <a:prstGeom prst="rect">
            <a:avLst/>
          </a:prstGeom>
          <a:solidFill>
            <a:srgbClr val="00FF88">
              <a:alpha val="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3147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6863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4290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8006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5433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9149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7719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1435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8862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2578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3721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291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6007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434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150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457700" y="2194560"/>
            <a:ext cx="118872" cy="27432"/>
          </a:xfrm>
          <a:prstGeom prst="rect">
            <a:avLst/>
          </a:prstGeom>
          <a:solidFill>
            <a:srgbClr val="00FF88">
              <a:alpha val="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12648" y="2468880"/>
            <a:ext cx="79187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圖表 SKILL 設計實戰</a:t>
            </a:r>
            <a:endParaRPr lang="en-US" sz="3000" dirty="0"/>
          </a:p>
        </p:txBody>
      </p:sp>
      <p:sp>
        <p:nvSpPr>
          <p:cNvPr id="40" name="Shape 38"/>
          <p:cNvSpPr/>
          <p:nvPr/>
        </p:nvSpPr>
        <p:spPr>
          <a:xfrm>
            <a:off x="365760" y="365760"/>
            <a:ext cx="1097280" cy="1097280"/>
          </a:xfrm>
          <a:prstGeom prst="donut">
            <a:avLst/>
          </a:prstGeom>
          <a:solidFill>
            <a:srgbClr val="00FF88">
              <a:alpha val="6000"/>
            </a:srgbClr>
          </a:solidFill>
          <a:ln w="6350">
            <a:solidFill>
              <a:srgbClr val="00FF8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01000" y="3794760"/>
            <a:ext cx="822960" cy="822960"/>
          </a:xfrm>
          <a:prstGeom prst="donut">
            <a:avLst/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支援的圖表類型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188720"/>
            <a:ext cx="3867912" cy="1645920"/>
          </a:xfrm>
          <a:prstGeom prst="roundRect">
            <a:avLst>
              <a:gd name="adj" fmla="val 4444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72284" y="1325880"/>
            <a:ext cx="502920" cy="50292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12648" y="1325880"/>
            <a:ext cx="3867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49808" y="1828800"/>
            <a:ext cx="35935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2103120"/>
            <a:ext cx="359359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柱狀圖 - 比較類別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3867912" cy="1645920"/>
          </a:xfrm>
          <a:prstGeom prst="roundRect">
            <a:avLst>
              <a:gd name="adj" fmla="val 4444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23076" y="1325880"/>
            <a:ext cx="502920" cy="50292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325880"/>
            <a:ext cx="3867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00600" y="1828800"/>
            <a:ext cx="35935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103120"/>
            <a:ext cx="359359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折線圖 - 顯示趨勢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" y="3017520"/>
            <a:ext cx="3867912" cy="1645920"/>
          </a:xfrm>
          <a:prstGeom prst="roundRect">
            <a:avLst>
              <a:gd name="adj" fmla="val 4444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72284" y="3154680"/>
            <a:ext cx="502920" cy="50292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" y="3154680"/>
            <a:ext cx="3867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•́́́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49808" y="3657600"/>
            <a:ext cx="35935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scatter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" y="3931920"/>
            <a:ext cx="359359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散佈圖 - 變數關係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3017520"/>
            <a:ext cx="3867912" cy="1645920"/>
          </a:xfrm>
          <a:prstGeom prst="roundRect">
            <a:avLst>
              <a:gd name="adj" fmla="val 4444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23076" y="3154680"/>
            <a:ext cx="502920" cy="50292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3154680"/>
            <a:ext cx="3867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📖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800600" y="3657600"/>
            <a:ext cx="35935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histogram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3931920"/>
            <a:ext cx="359359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直方圖 - 分佈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Schema 範例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188720"/>
            <a:ext cx="7918704" cy="3017520"/>
          </a:xfrm>
          <a:prstGeom prst="rect">
            <a:avLst/>
          </a:prstGeom>
          <a:solidFill>
            <a:srgbClr val="12122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"chartType": "bar",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"data": [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{"month": "1月", "sales": 120},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{"month": "2月", "sales": 200}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"xField": "month",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"yField": "sales",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"title": "月度銷售額"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使用流程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371600"/>
            <a:ext cx="1842516" cy="3108960"/>
          </a:xfrm>
          <a:prstGeom prst="roundRect">
            <a:avLst>
              <a:gd name="adj" fmla="val 39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51026" y="155448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51026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4088" y="2011680"/>
            <a:ext cx="165963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準備資料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" y="2377440"/>
            <a:ext cx="1659636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列表格式的資料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73452" y="2926080"/>
            <a:ext cx="320040" cy="18288"/>
          </a:xfrm>
          <a:prstGeom prst="rect">
            <a:avLst/>
          </a:prstGeom>
          <a:solidFill>
            <a:srgbClr val="00FF88"/>
          </a:solidFill>
          <a:ln w="25400">
            <a:solidFill>
              <a:srgbClr val="00FF8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638044" y="1371600"/>
            <a:ext cx="1842516" cy="3108960"/>
          </a:xfrm>
          <a:prstGeom prst="roundRect">
            <a:avLst>
              <a:gd name="adj" fmla="val 39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76422" y="155448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76422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29484" y="2011680"/>
            <a:ext cx="165963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選擇類型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29484" y="2377440"/>
            <a:ext cx="1659636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bar / line / scatter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98848" y="2926080"/>
            <a:ext cx="320040" cy="18288"/>
          </a:xfrm>
          <a:prstGeom prst="rect">
            <a:avLst/>
          </a:prstGeom>
          <a:solidFill>
            <a:srgbClr val="00FF88"/>
          </a:solidFill>
          <a:ln w="25400">
            <a:solidFill>
              <a:srgbClr val="00FF8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663440" y="1371600"/>
            <a:ext cx="1842516" cy="3108960"/>
          </a:xfrm>
          <a:prstGeom prst="roundRect">
            <a:avLst>
              <a:gd name="adj" fmla="val 39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01818" y="155448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01818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54880" y="2011680"/>
            <a:ext cx="165963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設定參數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2377440"/>
            <a:ext cx="1659636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xField, yField, title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24244" y="2926080"/>
            <a:ext cx="320040" cy="18288"/>
          </a:xfrm>
          <a:prstGeom prst="rect">
            <a:avLst/>
          </a:prstGeom>
          <a:solidFill>
            <a:srgbClr val="00FF88"/>
          </a:solidFill>
          <a:ln w="25400">
            <a:solidFill>
              <a:srgbClr val="00FF8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688836" y="1371600"/>
            <a:ext cx="1842516" cy="3108960"/>
          </a:xfrm>
          <a:prstGeom prst="roundRect">
            <a:avLst>
              <a:gd name="adj" fmla="val 39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27214" y="155448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27214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80276" y="2011680"/>
            <a:ext cx="165963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執行生成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80276" y="2377440"/>
            <a:ext cx="1659636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調用 generate.py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完整 SKILL 架構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280160"/>
            <a:ext cx="1808226" cy="3291840"/>
          </a:xfrm>
          <a:prstGeom prst="roundRect">
            <a:avLst>
              <a:gd name="adj" fmla="val 50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2648" y="1280160"/>
            <a:ext cx="1808226" cy="45720"/>
          </a:xfrm>
          <a:prstGeom prst="roundRect">
            <a:avLst>
              <a:gd name="adj" fmla="val 200000"/>
            </a:avLst>
          </a:prstGeom>
          <a:solidFill>
            <a:srgbClr val="00FF88"/>
          </a:solidFill>
          <a:ln/>
        </p:spPr>
      </p:sp>
      <p:sp>
        <p:nvSpPr>
          <p:cNvPr id="8" name="Shape 6"/>
          <p:cNvSpPr/>
          <p:nvPr/>
        </p:nvSpPr>
        <p:spPr>
          <a:xfrm>
            <a:off x="612648" y="1303020"/>
            <a:ext cx="1808226" cy="228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9" name="Shape 7"/>
          <p:cNvSpPr/>
          <p:nvPr/>
        </p:nvSpPr>
        <p:spPr>
          <a:xfrm>
            <a:off x="1242441" y="1508760"/>
            <a:ext cx="548640" cy="54864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42441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49808" y="2194560"/>
            <a:ext cx="153390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SKILL.md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560320"/>
            <a:ext cx="153390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主技能文件 (YAML + Markdown)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49474" y="1280160"/>
            <a:ext cx="1808226" cy="3291840"/>
          </a:xfrm>
          <a:prstGeom prst="roundRect">
            <a:avLst>
              <a:gd name="adj" fmla="val 50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49474" y="1280160"/>
            <a:ext cx="1808226" cy="45720"/>
          </a:xfrm>
          <a:prstGeom prst="roundRect">
            <a:avLst>
              <a:gd name="adj" fmla="val 200000"/>
            </a:avLst>
          </a:prstGeom>
          <a:solidFill>
            <a:srgbClr val="00FF88"/>
          </a:solidFill>
          <a:ln/>
        </p:spPr>
      </p:sp>
      <p:sp>
        <p:nvSpPr>
          <p:cNvPr id="15" name="Shape 13"/>
          <p:cNvSpPr/>
          <p:nvPr/>
        </p:nvSpPr>
        <p:spPr>
          <a:xfrm>
            <a:off x="2649474" y="1303020"/>
            <a:ext cx="1808226" cy="228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6" name="Shape 14"/>
          <p:cNvSpPr/>
          <p:nvPr/>
        </p:nvSpPr>
        <p:spPr>
          <a:xfrm>
            <a:off x="3279267" y="1508760"/>
            <a:ext cx="548640" cy="54864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79267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786634" y="2194560"/>
            <a:ext cx="153390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references/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86634" y="2560320"/>
            <a:ext cx="153390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參考手冊與範例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280160"/>
            <a:ext cx="1808226" cy="3291840"/>
          </a:xfrm>
          <a:prstGeom prst="roundRect">
            <a:avLst>
              <a:gd name="adj" fmla="val 50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86300" y="1280160"/>
            <a:ext cx="1808226" cy="45720"/>
          </a:xfrm>
          <a:prstGeom prst="roundRect">
            <a:avLst>
              <a:gd name="adj" fmla="val 200000"/>
            </a:avLst>
          </a:prstGeom>
          <a:solidFill>
            <a:srgbClr val="00FF88"/>
          </a:solidFill>
          <a:ln/>
        </p:spPr>
      </p:sp>
      <p:sp>
        <p:nvSpPr>
          <p:cNvPr id="22" name="Shape 20"/>
          <p:cNvSpPr/>
          <p:nvPr/>
        </p:nvSpPr>
        <p:spPr>
          <a:xfrm>
            <a:off x="4686300" y="1303020"/>
            <a:ext cx="1808226" cy="228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3" name="Shape 21"/>
          <p:cNvSpPr/>
          <p:nvPr/>
        </p:nvSpPr>
        <p:spPr>
          <a:xfrm>
            <a:off x="5316093" y="1508760"/>
            <a:ext cx="548640" cy="54864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16093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📁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823460" y="2194560"/>
            <a:ext cx="153390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templates/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23460" y="2560320"/>
            <a:ext cx="153390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預設配置模板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23126" y="1280160"/>
            <a:ext cx="1808226" cy="3291840"/>
          </a:xfrm>
          <a:prstGeom prst="roundRect">
            <a:avLst>
              <a:gd name="adj" fmla="val 50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23126" y="1280160"/>
            <a:ext cx="1808226" cy="45720"/>
          </a:xfrm>
          <a:prstGeom prst="roundRect">
            <a:avLst>
              <a:gd name="adj" fmla="val 200000"/>
            </a:avLst>
          </a:prstGeom>
          <a:solidFill>
            <a:srgbClr val="00FF88"/>
          </a:solidFill>
          <a:ln/>
        </p:spPr>
      </p:sp>
      <p:sp>
        <p:nvSpPr>
          <p:cNvPr id="29" name="Shape 27"/>
          <p:cNvSpPr/>
          <p:nvPr/>
        </p:nvSpPr>
        <p:spPr>
          <a:xfrm>
            <a:off x="6723126" y="1303020"/>
            <a:ext cx="1808226" cy="228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0" name="Shape 28"/>
          <p:cNvSpPr/>
          <p:nvPr/>
        </p:nvSpPr>
        <p:spPr>
          <a:xfrm>
            <a:off x="7352919" y="1508760"/>
            <a:ext cx="548640" cy="54864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352919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860286" y="2194560"/>
            <a:ext cx="153390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scripts/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60286" y="2560320"/>
            <a:ext cx="153390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驗證與生成腳本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錯誤處理策略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188720"/>
          <a:ext cx="7918704" cy="3474720"/>
        </p:xfrm>
        <a:graphic>
          <a:graphicData uri="http://schemas.openxmlformats.org/drawingml/2006/table">
            <a:tbl>
              <a:tblPr/>
              <a:tblGrid>
                <a:gridCol w="1828800"/>
                <a:gridCol w="3044952"/>
                <a:gridCol w="3044952"/>
              </a:tblGrid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錯誤類型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處理方式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ValidationError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輸入不符合 schema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返回詳細錯誤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EmptyDataError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資料為空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提示检查輸入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RenderError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渲染失敗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重試或降級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8572" cy="5148072"/>
          </a:xfrm>
          <a:prstGeom prst="rect">
            <a:avLst/>
          </a:prstGeom>
          <a:solidFill>
            <a:srgbClr val="00FF88">
              <a:alpha val="-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524000" y="857250"/>
            <a:ext cx="7624572" cy="4290822"/>
          </a:xfrm>
          <a:prstGeom prst="rect">
            <a:avLst/>
          </a:prstGeom>
          <a:solidFill>
            <a:srgbClr val="03CF74">
              <a:alpha val="-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048000" y="1714500"/>
            <a:ext cx="6100572" cy="3433572"/>
          </a:xfrm>
          <a:prstGeom prst="rect">
            <a:avLst/>
          </a:prstGeom>
          <a:solidFill>
            <a:srgbClr val="069F60">
              <a:alpha val="-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2571750"/>
            <a:ext cx="4576572" cy="2576322"/>
          </a:xfrm>
          <a:prstGeom prst="rect">
            <a:avLst/>
          </a:prstGeom>
          <a:solidFill>
            <a:srgbClr val="096F4B">
              <a:alpha val="-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0" y="3429000"/>
            <a:ext cx="3052572" cy="1719072"/>
          </a:xfrm>
          <a:prstGeom prst="rect">
            <a:avLst/>
          </a:prstGeom>
          <a:solidFill>
            <a:srgbClr val="0C3F37">
              <a:alpha val="-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20000" y="4286250"/>
            <a:ext cx="1528572" cy="861822"/>
          </a:xfrm>
          <a:prstGeom prst="rect">
            <a:avLst/>
          </a:prstGeom>
          <a:solidFill>
            <a:srgbClr val="0F0F23">
              <a:alpha val="1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503920" y="0"/>
            <a:ext cx="160020" cy="160020"/>
          </a:xfrm>
          <a:prstGeom prst="ellipse">
            <a:avLst/>
          </a:prstGeom>
          <a:solidFill>
            <a:srgbClr val="00FF88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619134" y="115214"/>
            <a:ext cx="134417" cy="134417"/>
          </a:xfrm>
          <a:prstGeom prst="ellipse">
            <a:avLst/>
          </a:prstGeom>
          <a:solidFill>
            <a:srgbClr val="00FF88">
              <a:alpha val="9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734349" y="230429"/>
            <a:ext cx="108814" cy="108814"/>
          </a:xfrm>
          <a:prstGeom prst="ellipse">
            <a:avLst/>
          </a:prstGeom>
          <a:solidFill>
            <a:srgbClr val="00FF88">
              <a:alpha val="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411980"/>
            <a:ext cx="731520" cy="731520"/>
          </a:xfrm>
          <a:prstGeom prst="arc">
            <a:avLst/>
          </a:prstGeom>
          <a:solidFill>
            <a:srgbClr val="00FF88">
              <a:alpha val="10000"/>
            </a:srgbClr>
          </a:solidFill>
          <a:ln w="6350">
            <a:solidFill>
              <a:srgbClr val="00FF8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85666" y="345186"/>
            <a:ext cx="864108" cy="864108"/>
          </a:xfrm>
          <a:prstGeom prst="ellipse">
            <a:avLst/>
          </a:prstGeom>
          <a:solidFill>
            <a:srgbClr val="00FF88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457200"/>
            <a:ext cx="640080" cy="640080"/>
          </a:xfrm>
          <a:prstGeom prst="ellipse">
            <a:avLst/>
          </a:prstGeom>
          <a:solidFill>
            <a:srgbClr val="0F0F23"/>
          </a:solidFill>
          <a:ln w="25400">
            <a:solidFill>
              <a:srgbClr val="00FF88"/>
            </a:solidFill>
            <a:prstDash val="solid"/>
          </a:ln>
          <a:effectLst>
            <a:outerShdw sx="100000" sy="100000" kx="0" ky="0" algn="bl" rotWithShape="0" blurRad="76200" dist="25400" dir="2700000">
              <a:srgbClr val="00FF88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9768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3200400" y="2194560"/>
            <a:ext cx="118872" cy="27432"/>
          </a:xfrm>
          <a:prstGeom prst="rect">
            <a:avLst/>
          </a:prstGeom>
          <a:solidFill>
            <a:srgbClr val="00FF88">
              <a:alpha val="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2194560"/>
            <a:ext cx="118872" cy="27432"/>
          </a:xfrm>
          <a:prstGeom prst="rect">
            <a:avLst/>
          </a:prstGeom>
          <a:solidFill>
            <a:srgbClr val="00FF88">
              <a:alpha val="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3147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6863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4290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8006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5433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9149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7719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1435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8862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2578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3721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291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6007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434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150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457700" y="2194560"/>
            <a:ext cx="118872" cy="27432"/>
          </a:xfrm>
          <a:prstGeom prst="rect">
            <a:avLst/>
          </a:prstGeom>
          <a:solidFill>
            <a:srgbClr val="00FF88">
              <a:alpha val="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12648" y="2468880"/>
            <a:ext cx="79187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圖像生成 SKILL 設計實戰</a:t>
            </a:r>
            <a:endParaRPr lang="en-US" sz="3000" dirty="0"/>
          </a:p>
        </p:txBody>
      </p:sp>
      <p:sp>
        <p:nvSpPr>
          <p:cNvPr id="40" name="Shape 38"/>
          <p:cNvSpPr/>
          <p:nvPr/>
        </p:nvSpPr>
        <p:spPr>
          <a:xfrm>
            <a:off x="365760" y="365760"/>
            <a:ext cx="1097280" cy="1097280"/>
          </a:xfrm>
          <a:prstGeom prst="donut">
            <a:avLst/>
          </a:prstGeom>
          <a:solidFill>
            <a:srgbClr val="00FF88">
              <a:alpha val="6000"/>
            </a:srgbClr>
          </a:solidFill>
          <a:ln w="6350">
            <a:solidFill>
              <a:srgbClr val="00FF8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01000" y="3794760"/>
            <a:ext cx="822960" cy="822960"/>
          </a:xfrm>
          <a:prstGeom prst="donut">
            <a:avLst/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圖像生成的特殊性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188720"/>
            <a:ext cx="3867912" cy="1645920"/>
          </a:xfrm>
          <a:prstGeom prst="roundRect">
            <a:avLst>
              <a:gd name="adj" fmla="val 4444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72284" y="1325880"/>
            <a:ext cx="502920" cy="50292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12648" y="1325880"/>
            <a:ext cx="3867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❓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49808" y="1828800"/>
            <a:ext cx="35935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不確定性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2103120"/>
            <a:ext cx="359359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 prompt 可能產生不同結果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3867912" cy="1645920"/>
          </a:xfrm>
          <a:prstGeom prst="roundRect">
            <a:avLst>
              <a:gd name="adj" fmla="val 4444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23076" y="1325880"/>
            <a:ext cx="502920" cy="50292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325880"/>
            <a:ext cx="3867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00600" y="1828800"/>
            <a:ext cx="35935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風格控制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103120"/>
            <a:ext cx="359359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需要明確的風格系統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" y="3017520"/>
            <a:ext cx="3867912" cy="1645920"/>
          </a:xfrm>
          <a:prstGeom prst="roundRect">
            <a:avLst>
              <a:gd name="adj" fmla="val 4444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72284" y="3154680"/>
            <a:ext cx="502920" cy="50292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" y="3154680"/>
            <a:ext cx="3867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🔁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49808" y="3657600"/>
            <a:ext cx="35935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一致性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" y="3931920"/>
            <a:ext cx="359359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多張圖需維持相同風格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3017520"/>
            <a:ext cx="3867912" cy="1645920"/>
          </a:xfrm>
          <a:prstGeom prst="roundRect">
            <a:avLst>
              <a:gd name="adj" fmla="val 4444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23076" y="3154680"/>
            <a:ext cx="502920" cy="50292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3154680"/>
            <a:ext cx="3867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800600" y="3657600"/>
            <a:ext cx="35935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質量評估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3931920"/>
            <a:ext cx="359359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難以程式化判斷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/ 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預設風格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188720"/>
          <a:ext cx="7918704" cy="3474720"/>
        </p:xfrm>
        <a:graphic>
          <a:graphicData uri="http://schemas.openxmlformats.org/drawingml/2006/table">
            <a:tbl>
              <a:tblPr/>
              <a:tblGrid>
                <a:gridCol w="1828800"/>
                <a:gridCol w="3044952"/>
                <a:gridCol w="3044952"/>
              </a:tblGrid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風格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描述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適用場景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photorealistic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寫實攝影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產品照、人物寫真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illustration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數位插畫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文章插圖、說明圖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sketch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手繪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草圖、概念圖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3d-render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3D 渲染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產品展示、建範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anime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動漫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卡通、角色設計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minimalist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極簡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簡報、網頁設計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Engineering 指南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188720"/>
            <a:ext cx="7918704" cy="3017520"/>
          </a:xfrm>
          <a:prstGeom prst="rect">
            <a:avLst/>
          </a:prstGeom>
          <a:solidFill>
            <a:srgbClr val="12122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結構化 Prompt 模板: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[主體描述] + [風格修飾] + [技術參數]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範例: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"一隻橘色的貓坐在窗邊,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數位藝術風格,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高細節, 8k"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重要要素: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Subject: 主體 (a cat, a landscape)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Style: 風格 (digital art, photo)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Quality: 品質 (high quality, 8k)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Lighting: 光照 (natural light)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Composition: 構圖 (rule of thirds)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風格一致性保證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280160"/>
            <a:ext cx="2517648" cy="3291840"/>
          </a:xfrm>
          <a:prstGeom prst="roundRect">
            <a:avLst>
              <a:gd name="adj" fmla="val 3632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2648" y="1280160"/>
            <a:ext cx="54864" cy="3291840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63040"/>
            <a:ext cx="2243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 Seed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2243328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固定隨機種子確保可複現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13176" y="1280160"/>
            <a:ext cx="2517648" cy="3291840"/>
          </a:xfrm>
          <a:prstGeom prst="roundRect">
            <a:avLst>
              <a:gd name="adj" fmla="val 3632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3176" y="1280160"/>
            <a:ext cx="54864" cy="3291840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12" name="Text 10"/>
          <p:cNvSpPr/>
          <p:nvPr/>
        </p:nvSpPr>
        <p:spPr>
          <a:xfrm>
            <a:off x="3477768" y="1463040"/>
            <a:ext cx="2243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結構化 Prompt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7768" y="1828800"/>
            <a:ext cx="2243328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統一的提示詞模板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13704" y="1280160"/>
            <a:ext cx="2517648" cy="3291840"/>
          </a:xfrm>
          <a:prstGeom prst="roundRect">
            <a:avLst>
              <a:gd name="adj" fmla="val 3632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13704" y="1280160"/>
            <a:ext cx="54864" cy="3291840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16" name="Text 14"/>
          <p:cNvSpPr/>
          <p:nvPr/>
        </p:nvSpPr>
        <p:spPr>
          <a:xfrm>
            <a:off x="6178296" y="1463040"/>
            <a:ext cx="2243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負面提示詞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78296" y="1828800"/>
            <a:ext cx="2243328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排除不必要的元素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8572" cy="5148072"/>
          </a:xfrm>
          <a:prstGeom prst="rect">
            <a:avLst/>
          </a:prstGeom>
          <a:solidFill>
            <a:srgbClr val="00FF88">
              <a:alpha val="-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524000" y="857250"/>
            <a:ext cx="7624572" cy="4290822"/>
          </a:xfrm>
          <a:prstGeom prst="rect">
            <a:avLst/>
          </a:prstGeom>
          <a:solidFill>
            <a:srgbClr val="03CF74">
              <a:alpha val="-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048000" y="1714500"/>
            <a:ext cx="6100572" cy="3433572"/>
          </a:xfrm>
          <a:prstGeom prst="rect">
            <a:avLst/>
          </a:prstGeom>
          <a:solidFill>
            <a:srgbClr val="069F60">
              <a:alpha val="-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2571750"/>
            <a:ext cx="4576572" cy="2576322"/>
          </a:xfrm>
          <a:prstGeom prst="rect">
            <a:avLst/>
          </a:prstGeom>
          <a:solidFill>
            <a:srgbClr val="096F4B">
              <a:alpha val="-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0" y="3429000"/>
            <a:ext cx="3052572" cy="1719072"/>
          </a:xfrm>
          <a:prstGeom prst="rect">
            <a:avLst/>
          </a:prstGeom>
          <a:solidFill>
            <a:srgbClr val="0C3F37">
              <a:alpha val="-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20000" y="4286250"/>
            <a:ext cx="1528572" cy="861822"/>
          </a:xfrm>
          <a:prstGeom prst="rect">
            <a:avLst/>
          </a:prstGeom>
          <a:solidFill>
            <a:srgbClr val="0F0F23">
              <a:alpha val="1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503920" y="0"/>
            <a:ext cx="160020" cy="160020"/>
          </a:xfrm>
          <a:prstGeom prst="ellipse">
            <a:avLst/>
          </a:prstGeom>
          <a:solidFill>
            <a:srgbClr val="00FF88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619134" y="115214"/>
            <a:ext cx="134417" cy="134417"/>
          </a:xfrm>
          <a:prstGeom prst="ellipse">
            <a:avLst/>
          </a:prstGeom>
          <a:solidFill>
            <a:srgbClr val="00FF88">
              <a:alpha val="9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734349" y="230429"/>
            <a:ext cx="108814" cy="108814"/>
          </a:xfrm>
          <a:prstGeom prst="ellipse">
            <a:avLst/>
          </a:prstGeom>
          <a:solidFill>
            <a:srgbClr val="00FF88">
              <a:alpha val="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411980"/>
            <a:ext cx="731520" cy="731520"/>
          </a:xfrm>
          <a:prstGeom prst="arc">
            <a:avLst/>
          </a:prstGeom>
          <a:solidFill>
            <a:srgbClr val="00FF88">
              <a:alpha val="10000"/>
            </a:srgbClr>
          </a:solidFill>
          <a:ln w="6350">
            <a:solidFill>
              <a:srgbClr val="00FF8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85666" y="345186"/>
            <a:ext cx="864108" cy="864108"/>
          </a:xfrm>
          <a:prstGeom prst="ellipse">
            <a:avLst/>
          </a:prstGeom>
          <a:solidFill>
            <a:srgbClr val="00FF88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457200"/>
            <a:ext cx="640080" cy="640080"/>
          </a:xfrm>
          <a:prstGeom prst="ellipse">
            <a:avLst/>
          </a:prstGeom>
          <a:solidFill>
            <a:srgbClr val="0F0F23"/>
          </a:solidFill>
          <a:ln w="25400">
            <a:solidFill>
              <a:srgbClr val="00FF88"/>
            </a:solidFill>
            <a:prstDash val="solid"/>
          </a:ln>
          <a:effectLst>
            <a:outerShdw sx="100000" sy="100000" kx="0" ky="0" algn="bl" rotWithShape="0" blurRad="76200" dist="25400" dir="2700000">
              <a:srgbClr val="00FF88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9768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3200400" y="2194560"/>
            <a:ext cx="118872" cy="27432"/>
          </a:xfrm>
          <a:prstGeom prst="rect">
            <a:avLst/>
          </a:prstGeom>
          <a:solidFill>
            <a:srgbClr val="00FF88">
              <a:alpha val="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2194560"/>
            <a:ext cx="118872" cy="27432"/>
          </a:xfrm>
          <a:prstGeom prst="rect">
            <a:avLst/>
          </a:prstGeom>
          <a:solidFill>
            <a:srgbClr val="00FF88">
              <a:alpha val="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3147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6863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4290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8006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5433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9149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7719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1435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8862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2578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3721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291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6007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434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150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457700" y="2194560"/>
            <a:ext cx="118872" cy="27432"/>
          </a:xfrm>
          <a:prstGeom prst="rect">
            <a:avLst/>
          </a:prstGeom>
          <a:solidFill>
            <a:srgbClr val="00FF88">
              <a:alpha val="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12648" y="2468880"/>
            <a:ext cx="79187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驗證與測試策略</a:t>
            </a:r>
            <a:endParaRPr lang="en-US" sz="3000" dirty="0"/>
          </a:p>
        </p:txBody>
      </p:sp>
      <p:sp>
        <p:nvSpPr>
          <p:cNvPr id="40" name="Shape 38"/>
          <p:cNvSpPr/>
          <p:nvPr/>
        </p:nvSpPr>
        <p:spPr>
          <a:xfrm>
            <a:off x="365760" y="365760"/>
            <a:ext cx="1097280" cy="1097280"/>
          </a:xfrm>
          <a:prstGeom prst="donut">
            <a:avLst/>
          </a:prstGeom>
          <a:solidFill>
            <a:srgbClr val="00FF88">
              <a:alpha val="6000"/>
            </a:srgbClr>
          </a:solidFill>
          <a:ln w="6350">
            <a:solidFill>
              <a:srgbClr val="00FF8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01000" y="3794760"/>
            <a:ext cx="822960" cy="822960"/>
          </a:xfrm>
          <a:prstGeom prst="donut">
            <a:avLst/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三層驗證體系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188720"/>
            <a:ext cx="2456688" cy="3383280"/>
          </a:xfrm>
          <a:prstGeom prst="roundRect">
            <a:avLst>
              <a:gd name="adj" fmla="val 3722"/>
            </a:avLst>
          </a:prstGeom>
          <a:solidFill>
            <a:srgbClr val="1A2A3A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2648" y="1188720"/>
            <a:ext cx="2456688" cy="54864"/>
          </a:xfrm>
          <a:prstGeom prst="roundRect">
            <a:avLst>
              <a:gd name="adj" fmla="val 166667"/>
            </a:avLst>
          </a:prstGeom>
          <a:solidFill>
            <a:srgbClr val="00FF88"/>
          </a:solidFill>
          <a:ln/>
        </p:spPr>
      </p:sp>
      <p:sp>
        <p:nvSpPr>
          <p:cNvPr id="8" name="Shape 6"/>
          <p:cNvSpPr/>
          <p:nvPr/>
        </p:nvSpPr>
        <p:spPr>
          <a:xfrm>
            <a:off x="612648" y="1216152"/>
            <a:ext cx="2456688" cy="27432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9" name="Text 7"/>
          <p:cNvSpPr/>
          <p:nvPr/>
        </p:nvSpPr>
        <p:spPr>
          <a:xfrm>
            <a:off x="1658112" y="1371600"/>
            <a:ext cx="365760" cy="365760"/>
          </a:xfrm>
          <a:prstGeom prst="ellipse">
            <a:avLst/>
          </a:prstGeom>
          <a:solidFill>
            <a:srgbClr val="00FF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1874520"/>
            <a:ext cx="2182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JSON Schema 驗證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" y="2423160"/>
            <a:ext cx="218236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8C8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結構、類型、必填欄位檢查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69336" y="2880360"/>
            <a:ext cx="274320" cy="0"/>
          </a:xfrm>
          <a:prstGeom prst="line">
            <a:avLst/>
          </a:prstGeom>
          <a:noFill/>
          <a:ln w="25400">
            <a:solidFill>
              <a:srgbClr val="8888A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343656" y="1188720"/>
            <a:ext cx="2456688" cy="3383280"/>
          </a:xfrm>
          <a:prstGeom prst="roundRect">
            <a:avLst>
              <a:gd name="adj" fmla="val 3722"/>
            </a:avLst>
          </a:prstGeom>
          <a:solidFill>
            <a:srgbClr val="1A2A3A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43656" y="1188720"/>
            <a:ext cx="2456688" cy="54864"/>
          </a:xfrm>
          <a:prstGeom prst="roundRect">
            <a:avLst>
              <a:gd name="adj" fmla="val 166667"/>
            </a:avLst>
          </a:prstGeom>
          <a:solidFill>
            <a:srgbClr val="00FF88"/>
          </a:solidFill>
          <a:ln/>
        </p:spPr>
      </p:sp>
      <p:sp>
        <p:nvSpPr>
          <p:cNvPr id="15" name="Shape 13"/>
          <p:cNvSpPr/>
          <p:nvPr/>
        </p:nvSpPr>
        <p:spPr>
          <a:xfrm>
            <a:off x="3343656" y="1216152"/>
            <a:ext cx="2456688" cy="27432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1371600"/>
            <a:ext cx="365760" cy="365760"/>
          </a:xfrm>
          <a:prstGeom prst="ellipse">
            <a:avLst/>
          </a:prstGeom>
          <a:solidFill>
            <a:srgbClr val="00FF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80816" y="1874520"/>
            <a:ext cx="2182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業務邏輯驗證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80816" y="2423160"/>
            <a:ext cx="218236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8C8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數據範圍、業務規則、一致性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00344" y="2880360"/>
            <a:ext cx="274320" cy="0"/>
          </a:xfrm>
          <a:prstGeom prst="line">
            <a:avLst/>
          </a:prstGeom>
          <a:noFill/>
          <a:ln w="25400">
            <a:solidFill>
              <a:srgbClr val="8888A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74664" y="1188720"/>
            <a:ext cx="2456688" cy="3383280"/>
          </a:xfrm>
          <a:prstGeom prst="roundRect">
            <a:avLst>
              <a:gd name="adj" fmla="val 3722"/>
            </a:avLst>
          </a:prstGeom>
          <a:solidFill>
            <a:srgbClr val="1A2A3A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74664" y="1188720"/>
            <a:ext cx="2456688" cy="54864"/>
          </a:xfrm>
          <a:prstGeom prst="roundRect">
            <a:avLst>
              <a:gd name="adj" fmla="val 166667"/>
            </a:avLst>
          </a:prstGeom>
          <a:solidFill>
            <a:srgbClr val="00FF88"/>
          </a:solidFill>
          <a:ln/>
        </p:spPr>
      </p:sp>
      <p:sp>
        <p:nvSpPr>
          <p:cNvPr id="22" name="Shape 20"/>
          <p:cNvSpPr/>
          <p:nvPr/>
        </p:nvSpPr>
        <p:spPr>
          <a:xfrm>
            <a:off x="6074664" y="1216152"/>
            <a:ext cx="2456688" cy="27432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3" name="Text 21"/>
          <p:cNvSpPr/>
          <p:nvPr/>
        </p:nvSpPr>
        <p:spPr>
          <a:xfrm>
            <a:off x="7120128" y="1371600"/>
            <a:ext cx="365760" cy="365760"/>
          </a:xfrm>
          <a:prstGeom prst="ellipse">
            <a:avLst/>
          </a:prstGeom>
          <a:solidFill>
            <a:srgbClr val="00FF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11824" y="1874520"/>
            <a:ext cx="2182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結果驗證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11824" y="2423160"/>
            <a:ext cx="218236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8C8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輸出格式、內容正確性、品質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/ 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Schema 驗證實作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188720"/>
            <a:ext cx="7918704" cy="3017520"/>
          </a:xfrm>
          <a:prstGeom prst="rect">
            <a:avLst/>
          </a:prstGeom>
          <a:solidFill>
            <a:srgbClr val="12122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jsonschema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CHART_SCHEMA =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"object",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"properties":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"chartType":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"type": "string",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"enum": ["bar", "line", "scatter"]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"data":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"type": "array",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"minItems":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"required": ["chartType", "data"]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jsonschema.validate(input_data, CHART_SCHEMA)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測試層級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188720"/>
          <a:ext cx="7918704" cy="3474720"/>
        </p:xfrm>
        <a:graphic>
          <a:graphicData uri="http://schemas.openxmlformats.org/drawingml/2006/table">
            <a:tbl>
              <a:tblPr/>
              <a:tblGrid>
                <a:gridCol w="1828800"/>
                <a:gridCol w="3044952"/>
                <a:gridCol w="3044952"/>
              </a:tblGrid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測試類型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範圍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工具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單元測試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個別函數和類別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pytest, unittest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整合測試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多個組件交互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API 測試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E2E 測試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完整流程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Selenium, Playwright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錯誤處理策略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280160"/>
            <a:ext cx="2517648" cy="3291840"/>
          </a:xfrm>
          <a:prstGeom prst="roundRect">
            <a:avLst>
              <a:gd name="adj" fmla="val 3632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2648" y="1280160"/>
            <a:ext cx="54864" cy="3291840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63040"/>
            <a:ext cx="2243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驗證錯誤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2243328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立即失敗，回傳詳細錯誤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13176" y="1280160"/>
            <a:ext cx="2517648" cy="3291840"/>
          </a:xfrm>
          <a:prstGeom prst="roundRect">
            <a:avLst>
              <a:gd name="adj" fmla="val 3632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3176" y="1280160"/>
            <a:ext cx="54864" cy="3291840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12" name="Text 10"/>
          <p:cNvSpPr/>
          <p:nvPr/>
        </p:nvSpPr>
        <p:spPr>
          <a:xfrm>
            <a:off x="3477768" y="1463040"/>
            <a:ext cx="2243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渲染錯誤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7768" y="1828800"/>
            <a:ext cx="2243328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重詥或切換方案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13704" y="1280160"/>
            <a:ext cx="2517648" cy="3291840"/>
          </a:xfrm>
          <a:prstGeom prst="roundRect">
            <a:avLst>
              <a:gd name="adj" fmla="val 3632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13704" y="1280160"/>
            <a:ext cx="54864" cy="3291840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16" name="Text 14"/>
          <p:cNvSpPr/>
          <p:nvPr/>
        </p:nvSpPr>
        <p:spPr>
          <a:xfrm>
            <a:off x="6178296" y="1463040"/>
            <a:ext cx="2243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78296" y="1828800"/>
            <a:ext cx="2243328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設定合理超時並返回部分結果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8572" cy="5148072"/>
          </a:xfrm>
          <a:prstGeom prst="rect">
            <a:avLst/>
          </a:prstGeom>
          <a:solidFill>
            <a:srgbClr val="00FF88">
              <a:alpha val="-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524000" y="857250"/>
            <a:ext cx="7624572" cy="4290822"/>
          </a:xfrm>
          <a:prstGeom prst="rect">
            <a:avLst/>
          </a:prstGeom>
          <a:solidFill>
            <a:srgbClr val="03CF74">
              <a:alpha val="-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048000" y="1714500"/>
            <a:ext cx="6100572" cy="3433572"/>
          </a:xfrm>
          <a:prstGeom prst="rect">
            <a:avLst/>
          </a:prstGeom>
          <a:solidFill>
            <a:srgbClr val="069F60">
              <a:alpha val="-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2571750"/>
            <a:ext cx="4576572" cy="2576322"/>
          </a:xfrm>
          <a:prstGeom prst="rect">
            <a:avLst/>
          </a:prstGeom>
          <a:solidFill>
            <a:srgbClr val="096F4B">
              <a:alpha val="-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0" y="3429000"/>
            <a:ext cx="3052572" cy="1719072"/>
          </a:xfrm>
          <a:prstGeom prst="rect">
            <a:avLst/>
          </a:prstGeom>
          <a:solidFill>
            <a:srgbClr val="0C3F37">
              <a:alpha val="-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20000" y="4286250"/>
            <a:ext cx="1528572" cy="861822"/>
          </a:xfrm>
          <a:prstGeom prst="rect">
            <a:avLst/>
          </a:prstGeom>
          <a:solidFill>
            <a:srgbClr val="0F0F23">
              <a:alpha val="1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503920" y="0"/>
            <a:ext cx="160020" cy="160020"/>
          </a:xfrm>
          <a:prstGeom prst="ellipse">
            <a:avLst/>
          </a:prstGeom>
          <a:solidFill>
            <a:srgbClr val="00FF88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619134" y="115214"/>
            <a:ext cx="134417" cy="134417"/>
          </a:xfrm>
          <a:prstGeom prst="ellipse">
            <a:avLst/>
          </a:prstGeom>
          <a:solidFill>
            <a:srgbClr val="00FF88">
              <a:alpha val="9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734349" y="230429"/>
            <a:ext cx="108814" cy="108814"/>
          </a:xfrm>
          <a:prstGeom prst="ellipse">
            <a:avLst/>
          </a:prstGeom>
          <a:solidFill>
            <a:srgbClr val="00FF88">
              <a:alpha val="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411980"/>
            <a:ext cx="731520" cy="731520"/>
          </a:xfrm>
          <a:prstGeom prst="arc">
            <a:avLst/>
          </a:prstGeom>
          <a:solidFill>
            <a:srgbClr val="00FF88">
              <a:alpha val="10000"/>
            </a:srgbClr>
          </a:solidFill>
          <a:ln w="6350">
            <a:solidFill>
              <a:srgbClr val="00FF8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85666" y="345186"/>
            <a:ext cx="864108" cy="864108"/>
          </a:xfrm>
          <a:prstGeom prst="ellipse">
            <a:avLst/>
          </a:prstGeom>
          <a:solidFill>
            <a:srgbClr val="00FF88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457200"/>
            <a:ext cx="640080" cy="640080"/>
          </a:xfrm>
          <a:prstGeom prst="ellipse">
            <a:avLst/>
          </a:prstGeom>
          <a:solidFill>
            <a:srgbClr val="0F0F23"/>
          </a:solidFill>
          <a:ln w="25400">
            <a:solidFill>
              <a:srgbClr val="00FF88"/>
            </a:solidFill>
            <a:prstDash val="solid"/>
          </a:ln>
          <a:effectLst>
            <a:outerShdw sx="100000" sy="100000" kx="0" ky="0" algn="bl" rotWithShape="0" blurRad="76200" dist="25400" dir="2700000">
              <a:srgbClr val="00FF88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9768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3200400" y="2194560"/>
            <a:ext cx="118872" cy="27432"/>
          </a:xfrm>
          <a:prstGeom prst="rect">
            <a:avLst/>
          </a:prstGeom>
          <a:solidFill>
            <a:srgbClr val="00FF88">
              <a:alpha val="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2194560"/>
            <a:ext cx="118872" cy="27432"/>
          </a:xfrm>
          <a:prstGeom prst="rect">
            <a:avLst/>
          </a:prstGeom>
          <a:solidFill>
            <a:srgbClr val="00FF88">
              <a:alpha val="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3147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6863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4290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8006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5433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9149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7719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1435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8862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2578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3721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291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6007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434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150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457700" y="2194560"/>
            <a:ext cx="118872" cy="27432"/>
          </a:xfrm>
          <a:prstGeom prst="rect">
            <a:avLst/>
          </a:prstGeom>
          <a:solidFill>
            <a:srgbClr val="00FF88">
              <a:alpha val="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12648" y="2468880"/>
            <a:ext cx="79187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案例研究：熱門實作剖析</a:t>
            </a:r>
            <a:endParaRPr lang="en-US" sz="3000" dirty="0"/>
          </a:p>
        </p:txBody>
      </p:sp>
      <p:sp>
        <p:nvSpPr>
          <p:cNvPr id="40" name="Shape 38"/>
          <p:cNvSpPr/>
          <p:nvPr/>
        </p:nvSpPr>
        <p:spPr>
          <a:xfrm>
            <a:off x="365760" y="365760"/>
            <a:ext cx="1097280" cy="1097280"/>
          </a:xfrm>
          <a:prstGeom prst="donut">
            <a:avLst/>
          </a:prstGeom>
          <a:solidFill>
            <a:srgbClr val="00FF88">
              <a:alpha val="6000"/>
            </a:srgbClr>
          </a:solidFill>
          <a:ln w="6350">
            <a:solidFill>
              <a:srgbClr val="00FF8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01000" y="3794760"/>
            <a:ext cx="822960" cy="822960"/>
          </a:xfrm>
          <a:prstGeom prst="donut">
            <a:avLst/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研究基礎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280160"/>
            <a:ext cx="1808226" cy="3291840"/>
          </a:xfrm>
          <a:prstGeom prst="roundRect">
            <a:avLst>
              <a:gd name="adj" fmla="val 50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2648" y="1280160"/>
            <a:ext cx="1808226" cy="45720"/>
          </a:xfrm>
          <a:prstGeom prst="roundRect">
            <a:avLst>
              <a:gd name="adj" fmla="val 200000"/>
            </a:avLst>
          </a:prstGeom>
          <a:solidFill>
            <a:srgbClr val="00FF88"/>
          </a:solidFill>
          <a:ln/>
        </p:spPr>
      </p:sp>
      <p:sp>
        <p:nvSpPr>
          <p:cNvPr id="8" name="Shape 6"/>
          <p:cNvSpPr/>
          <p:nvPr/>
        </p:nvSpPr>
        <p:spPr>
          <a:xfrm>
            <a:off x="612648" y="1303020"/>
            <a:ext cx="1808226" cy="228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9" name="Shape 7"/>
          <p:cNvSpPr/>
          <p:nvPr/>
        </p:nvSpPr>
        <p:spPr>
          <a:xfrm>
            <a:off x="1242441" y="1508760"/>
            <a:ext cx="548640" cy="54864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42441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⭐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49808" y="2194560"/>
            <a:ext cx="153390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antvis/mcp-server-chart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560320"/>
            <a:ext cx="153390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MCP Server 架構，26+ 圖表類型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49474" y="1280160"/>
            <a:ext cx="1808226" cy="3291840"/>
          </a:xfrm>
          <a:prstGeom prst="roundRect">
            <a:avLst>
              <a:gd name="adj" fmla="val 50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49474" y="1280160"/>
            <a:ext cx="1808226" cy="45720"/>
          </a:xfrm>
          <a:prstGeom prst="roundRect">
            <a:avLst>
              <a:gd name="adj" fmla="val 200000"/>
            </a:avLst>
          </a:prstGeom>
          <a:solidFill>
            <a:srgbClr val="00FF88"/>
          </a:solidFill>
          <a:ln/>
        </p:spPr>
      </p:sp>
      <p:sp>
        <p:nvSpPr>
          <p:cNvPr id="15" name="Shape 13"/>
          <p:cNvSpPr/>
          <p:nvPr/>
        </p:nvSpPr>
        <p:spPr>
          <a:xfrm>
            <a:off x="2649474" y="1303020"/>
            <a:ext cx="1808226" cy="228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6" name="Shape 14"/>
          <p:cNvSpPr/>
          <p:nvPr/>
        </p:nvSpPr>
        <p:spPr>
          <a:xfrm>
            <a:off x="3279267" y="1508760"/>
            <a:ext cx="548640" cy="54864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79267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786634" y="2194560"/>
            <a:ext cx="153390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hustcc/mcp-echarts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86634" y="2560320"/>
            <a:ext cx="153390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ECharts 全功能，Structured Output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280160"/>
            <a:ext cx="1808226" cy="3291840"/>
          </a:xfrm>
          <a:prstGeom prst="roundRect">
            <a:avLst>
              <a:gd name="adj" fmla="val 50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86300" y="1280160"/>
            <a:ext cx="1808226" cy="45720"/>
          </a:xfrm>
          <a:prstGeom prst="roundRect">
            <a:avLst>
              <a:gd name="adj" fmla="val 200000"/>
            </a:avLst>
          </a:prstGeom>
          <a:solidFill>
            <a:srgbClr val="00FF88"/>
          </a:solidFill>
          <a:ln/>
        </p:spPr>
      </p:sp>
      <p:sp>
        <p:nvSpPr>
          <p:cNvPr id="22" name="Shape 20"/>
          <p:cNvSpPr/>
          <p:nvPr/>
        </p:nvSpPr>
        <p:spPr>
          <a:xfrm>
            <a:off x="4686300" y="1303020"/>
            <a:ext cx="1808226" cy="228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3" name="Shape 21"/>
          <p:cNvSpPr/>
          <p:nvPr/>
        </p:nvSpPr>
        <p:spPr>
          <a:xfrm>
            <a:off x="5316093" y="1508760"/>
            <a:ext cx="548640" cy="54864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16093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823460" y="2194560"/>
            <a:ext cx="153390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Preswald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23460" y="2560320"/>
            <a:ext cx="153390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WASM 瀏覽器執行，離線可用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23126" y="1280160"/>
            <a:ext cx="1808226" cy="3291840"/>
          </a:xfrm>
          <a:prstGeom prst="roundRect">
            <a:avLst>
              <a:gd name="adj" fmla="val 50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23126" y="1280160"/>
            <a:ext cx="1808226" cy="45720"/>
          </a:xfrm>
          <a:prstGeom prst="roundRect">
            <a:avLst>
              <a:gd name="adj" fmla="val 200000"/>
            </a:avLst>
          </a:prstGeom>
          <a:solidFill>
            <a:srgbClr val="00FF88"/>
          </a:solidFill>
          <a:ln/>
        </p:spPr>
      </p:sp>
      <p:sp>
        <p:nvSpPr>
          <p:cNvPr id="29" name="Shape 27"/>
          <p:cNvSpPr/>
          <p:nvPr/>
        </p:nvSpPr>
        <p:spPr>
          <a:xfrm>
            <a:off x="6723126" y="1303020"/>
            <a:ext cx="1808226" cy="228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0" name="Shape 28"/>
          <p:cNvSpPr/>
          <p:nvPr/>
        </p:nvSpPr>
        <p:spPr>
          <a:xfrm>
            <a:off x="7352919" y="1508760"/>
            <a:ext cx="548640" cy="54864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352919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860286" y="2194560"/>
            <a:ext cx="153390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baoyu-infographic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60286" y="2560320"/>
            <a:ext cx="153390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Layout × Style 雙維度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/ 5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專案比較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188720"/>
          <a:ext cx="7918704" cy="3474720"/>
        </p:xfrm>
        <a:graphic>
          <a:graphicData uri="http://schemas.openxmlformats.org/drawingml/2006/table">
            <a:tbl>
              <a:tblPr/>
              <a:tblGrid>
                <a:gridCol w="1828800"/>
                <a:gridCol w="2029968"/>
                <a:gridCol w="2029968"/>
                <a:gridCol w="2029968"/>
              </a:tblGrid>
              <a:tr h="6949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專案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Stars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設計特色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應用場景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antvis/mcp-server-chart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3996+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Tool-based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精細控制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hustcc/mcp-echarts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226+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Structured Output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結構化數據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Preswald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4287+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WASM 執行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資料應用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baoyu-infographic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150+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雙維度設計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豐富視覺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 設計迭代循環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1554480"/>
            <a:ext cx="285425" cy="28112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57425" y="1582592"/>
            <a:ext cx="274456" cy="83255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31881" y="1665847"/>
            <a:ext cx="252940" cy="135199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84821" y="1801047"/>
            <a:ext cx="221704" cy="181948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06526" y="1982994"/>
            <a:ext cx="181948" cy="221704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88473" y="2204699"/>
            <a:ext cx="135199" cy="252940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23673" y="2457639"/>
            <a:ext cx="83255" cy="274456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06928" y="2732095"/>
            <a:ext cx="28112" cy="285425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035040" y="3017520"/>
            <a:ext cx="-28112" cy="285425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06928" y="3302945"/>
            <a:ext cx="-83255" cy="274456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23673" y="3577401"/>
            <a:ext cx="-135199" cy="252940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88473" y="3830341"/>
            <a:ext cx="-181948" cy="221704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06526" y="4052046"/>
            <a:ext cx="-221704" cy="181948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84821" y="4233993"/>
            <a:ext cx="-252940" cy="135199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31881" y="4369193"/>
            <a:ext cx="-274456" cy="83255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57425" y="4452448"/>
            <a:ext cx="-285425" cy="28112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72000" y="4480560"/>
            <a:ext cx="-285425" cy="-28112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86575" y="4452448"/>
            <a:ext cx="-274456" cy="-83255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12119" y="4369193"/>
            <a:ext cx="-252940" cy="-135199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59179" y="4233993"/>
            <a:ext cx="-221704" cy="-181948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37474" y="4052046"/>
            <a:ext cx="-181948" cy="-221704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55527" y="3830341"/>
            <a:ext cx="-135199" cy="-252940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20327" y="3577401"/>
            <a:ext cx="-83255" cy="-274456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37072" y="3302945"/>
            <a:ext cx="-28112" cy="-285425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108960" y="3017520"/>
            <a:ext cx="28112" cy="-285425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37072" y="2732095"/>
            <a:ext cx="83255" cy="-274456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20327" y="2457639"/>
            <a:ext cx="135199" cy="-252940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55527" y="2204699"/>
            <a:ext cx="181948" cy="-221704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37474" y="1982994"/>
            <a:ext cx="221704" cy="-181948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59179" y="1801047"/>
            <a:ext cx="252940" cy="-135199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12119" y="1665847"/>
            <a:ext cx="274456" cy="-83255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86575" y="1582592"/>
            <a:ext cx="285425" cy="-28112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160520" y="114300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FF88"/>
            </a:solidFill>
            <a:prstDash val="solid"/>
          </a:ln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160520" y="1143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研究需求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23560" y="260604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FF88"/>
            </a:solidFill>
            <a:prstDash val="solid"/>
          </a:ln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623560" y="2606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設計 Schema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60520" y="406908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FF88"/>
            </a:solidFill>
            <a:prstDash val="solid"/>
          </a:ln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160520" y="4069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實作核心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97480" y="260604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FF88"/>
            </a:solidFill>
            <a:prstDash val="solid"/>
          </a:ln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697480" y="2606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驗證測試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65760"/>
            <a:ext cx="73152" cy="441198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4" name="Text 2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課程績效 Checklist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188720"/>
            <a:ext cx="791870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200"/>
              </a:spcBef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8C8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能解釋 SKILL 和 Tool 的差異</a:t>
            </a:r>
            <a:endParaRPr lang="en-US" sz="1400" dirty="0"/>
          </a:p>
          <a:p>
            <a:pPr marL="342900" indent="-342900">
              <a:spcBef>
                <a:spcPts val="200"/>
              </a:spcBef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8C8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能寫出符合規範的 SKILL.md</a:t>
            </a:r>
            <a:endParaRPr lang="en-US" sz="1400" dirty="0"/>
          </a:p>
          <a:p>
            <a:pPr marL="342900" indent="-342900">
              <a:spcBef>
                <a:spcPts val="200"/>
              </a:spcBef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8C8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理解四大設計模式的選擇邏輯</a:t>
            </a:r>
            <a:endParaRPr lang="en-US" sz="1400" dirty="0"/>
          </a:p>
          <a:p>
            <a:pPr marL="342900" indent="-342900">
              <a:spcBef>
                <a:spcPts val="200"/>
              </a:spcBef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8C8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能獨立設計並實作圖表/圖像 SKILL</a:t>
            </a:r>
            <a:endParaRPr lang="en-US" sz="1400" dirty="0"/>
          </a:p>
          <a:p>
            <a:pPr marL="342900" indent="-342900">
              <a:spcBef>
                <a:spcPts val="200"/>
              </a:spcBef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8C8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能建立完整的驗證機制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" y="-228600"/>
            <a:ext cx="457200" cy="457200"/>
          </a:xfrm>
          <a:prstGeom prst="ellipse">
            <a:avLst/>
          </a:prstGeom>
          <a:solidFill>
            <a:srgbClr val="00FF88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68630" y="-377190"/>
            <a:ext cx="297180" cy="297180"/>
          </a:xfrm>
          <a:prstGeom prst="ellipse">
            <a:avLst/>
          </a:prstGeom>
          <a:solidFill>
            <a:srgbClr val="00FF88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60020" y="-434340"/>
            <a:ext cx="228600" cy="228600"/>
          </a:xfrm>
          <a:prstGeom prst="ellipse">
            <a:avLst/>
          </a:prstGeom>
          <a:solidFill>
            <a:srgbClr val="00FF88">
              <a:alpha val="1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915400" y="-228600"/>
            <a:ext cx="457200" cy="457200"/>
          </a:xfrm>
          <a:prstGeom prst="ellipse">
            <a:avLst/>
          </a:prstGeom>
          <a:solidFill>
            <a:srgbClr val="00FF88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675370" y="-377190"/>
            <a:ext cx="297180" cy="297180"/>
          </a:xfrm>
          <a:prstGeom prst="ellipse">
            <a:avLst/>
          </a:prstGeom>
          <a:solidFill>
            <a:srgbClr val="00FF88">
              <a:alpha val="1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04020" y="-434340"/>
            <a:ext cx="228600" cy="228600"/>
          </a:xfrm>
          <a:prstGeom prst="ellipse">
            <a:avLst/>
          </a:prstGeom>
          <a:solidFill>
            <a:srgbClr val="00FF88">
              <a:alpha val="1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-228600" y="4914900"/>
            <a:ext cx="457200" cy="457200"/>
          </a:xfrm>
          <a:prstGeom prst="ellipse">
            <a:avLst/>
          </a:prstGeom>
          <a:solidFill>
            <a:srgbClr val="00FF88">
              <a:alpha val="2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-468630" y="4766310"/>
            <a:ext cx="297180" cy="297180"/>
          </a:xfrm>
          <a:prstGeom prst="ellipse">
            <a:avLst/>
          </a:prstGeom>
          <a:solidFill>
            <a:srgbClr val="00FF88">
              <a:alpha val="1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60020" y="4709160"/>
            <a:ext cx="228600" cy="228600"/>
          </a:xfrm>
          <a:prstGeom prst="ellipse">
            <a:avLst/>
          </a:prstGeom>
          <a:solidFill>
            <a:srgbClr val="00FF88">
              <a:alpha val="1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915400" y="4914900"/>
            <a:ext cx="457200" cy="457200"/>
          </a:xfrm>
          <a:prstGeom prst="ellipse">
            <a:avLst/>
          </a:prstGeom>
          <a:solidFill>
            <a:srgbClr val="00FF88">
              <a:alpha val="2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675370" y="4766310"/>
            <a:ext cx="297180" cy="297180"/>
          </a:xfrm>
          <a:prstGeom prst="ellipse">
            <a:avLst/>
          </a:prstGeom>
          <a:solidFill>
            <a:srgbClr val="00FF88">
              <a:alpha val="1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304020" y="4709160"/>
            <a:ext cx="228600" cy="228600"/>
          </a:xfrm>
          <a:prstGeom prst="ellipse">
            <a:avLst/>
          </a:prstGeom>
          <a:solidFill>
            <a:srgbClr val="00FF88">
              <a:alpha val="1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1371600"/>
            <a:ext cx="79187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謝謝聽講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12648" y="2926080"/>
            <a:ext cx="79187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FF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Agent 視覺化 SKILL 設計 v2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2648" y="4206240"/>
            <a:ext cx="79187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完整教材與範例請見 GitHub\ngradinnovate-agents/llm-agent-visual-skill-design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2026-04-23T06:44:25Z</dcterms:created>
  <dcterms:modified xsi:type="dcterms:W3CDTF">2026-04-23T06:44:25Z</dcterms:modified>
</cp:coreProperties>
</file>