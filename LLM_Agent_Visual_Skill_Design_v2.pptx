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:Relationships xmlns:rel="http://schemas.openxmlformats.org/package/2006/relationships"><rel:Relationship Id="rId1" Type="http://schemas.openxmlformats.org/officeDocument/2006/relationships/slideMaster" Target="slideMasters/slideMaster1.xml"/><rel:Relationship Id="rId2" Type="http://schemas.openxmlformats.org/officeDocument/2006/relationships/slide" Target="slides/slide1.xml"/><rel:Relationship Id="rId3" Type="http://schemas.openxmlformats.org/officeDocument/2006/relationships/slide" Target="slides/slide2.xml"/><rel:Relationship Id="rId4" Type="http://schemas.openxmlformats.org/officeDocument/2006/relationships/slide" Target="slides/slide3.xml"/><rel:Relationship Id="rId5" Type="http://schemas.openxmlformats.org/officeDocument/2006/relationships/slide" Target="slides/slide4.xml"/><rel:Relationship Id="rId6" Type="http://schemas.openxmlformats.org/officeDocument/2006/relationships/slide" Target="slides/slide5.xml"/><rel:Relationship Id="rId7" Type="http://schemas.openxmlformats.org/officeDocument/2006/relationships/slide" Target="slides/slide6.xml"/><rel:Relationship Id="rId8" Type="http://schemas.openxmlformats.org/officeDocument/2006/relationships/notesMaster" Target="notesMasters/notesMaster1.xml"/><rel:Relationship Id="rId9" Type="http://schemas.openxmlformats.org/officeDocument/2006/relationships/presProps" Target="presProps.xml"/><rel:Relationship Id="rId10" Type="http://schemas.openxmlformats.org/officeDocument/2006/relationships/viewProps" Target="viewProps.xml"/><rel:Relationship Id="rId11" Type="http://schemas.openxmlformats.org/officeDocument/2006/relationships/theme" Target="theme/theme1.xml"/><rel:Relationship Id="rId12" Type="http://schemas.openxmlformats.org/officeDocument/2006/relationships/tableStyles" Target="tableStyles.xml"/><rel:Relationship Id="rId13" Type="http://schemas.openxmlformats.org/officeDocument/2006/relationships/slide" Target="slides/slide7.xml"/><rel:Relationship Id="rId14" Type="http://schemas.openxmlformats.org/officeDocument/2006/relationships/slide" Target="slides/slide8.xml"/><rel:Relationship Id="rId15" Type="http://schemas.openxmlformats.org/officeDocument/2006/relationships/slide" Target="slides/slide9.xml"/><rel:Relationship Id="rId16" Type="http://schemas.openxmlformats.org/officeDocument/2006/relationships/slide" Target="slides/slide10.xml"/><rel:Relationship Id="rId17" Type="http://schemas.openxmlformats.org/officeDocument/2006/relationships/slide" Target="slides/slide11.xml"/><rel:Relationship Id="rId18" Type="http://schemas.openxmlformats.org/officeDocument/2006/relationships/slide" Target="slides/slide12.xml"/><rel:Relationship Id="rId19" Type="http://schemas.openxmlformats.org/officeDocument/2006/relationships/slide" Target="slides/slide13.xml"/><rel:Relationship Id="rId20" Type="http://schemas.openxmlformats.org/officeDocument/2006/relationships/slide" Target="slides/slide14.xml"/><rel:Relationship Id="rId21" Type="http://schemas.openxmlformats.org/officeDocument/2006/relationships/slide" Target="slides/slide15.xml"/><rel:Relationship Id="rId22" Type="http://schemas.openxmlformats.org/officeDocument/2006/relationships/slide" Target="slides/slide16.xml"/><rel:Relationship Id="rId23" Type="http://schemas.openxmlformats.org/officeDocument/2006/relationships/slide" Target="slides/slide17.xml"/><rel:Relationship Id="rId24" Type="http://schemas.openxmlformats.org/officeDocument/2006/relationships/slide" Target="slides/slide18.xml"/><rel:Relationship Id="rId25" Type="http://schemas.openxmlformats.org/officeDocument/2006/relationships/slide" Target="slides/slide19.xml"/><rel:Relationship Id="rId26" Type="http://schemas.openxmlformats.org/officeDocument/2006/relationships/slide" Target="slides/slide20.xml"/><rel:Relationship Id="rId27" Type="http://schemas.openxmlformats.org/officeDocument/2006/relationships/slide" Target="slides/slide21.xml"/><rel:Relationship Id="rId28" Type="http://schemas.openxmlformats.org/officeDocument/2006/relationships/slide" Target="slides/slide22.xml"/><rel:Relationship Id="rId29" Type="http://schemas.openxmlformats.org/officeDocument/2006/relationships/slide" Target="slides/slide23.xml"/><rel:Relationship Id="rId30" Type="http://schemas.openxmlformats.org/officeDocument/2006/relationships/slide" Target="slides/slide24.xml"/><rel:Relationship Id="rId31" Type="http://schemas.openxmlformats.org/officeDocument/2006/relationships/slide" Target="slides/slide25.xml"/><rel:Relationship Id="rId32" Type="http://schemas.openxmlformats.org/officeDocument/2006/relationships/slide" Target="slides/slide26.xml"/><rel:Relationship Id="rId33" Type="http://schemas.openxmlformats.org/officeDocument/2006/relationships/slide" Target="slides/slide27.xml"/><rel:Relationship Id="rId34" Type="http://schemas.openxmlformats.org/officeDocument/2006/relationships/slide" Target="slides/slide28.xml"/><rel:Relationship Id="rId35" Type="http://schemas.openxmlformats.org/officeDocument/2006/relationships/slide" Target="slides/slide29.xml"/><rel:Relationship Id="rId36" Type="http://schemas.openxmlformats.org/officeDocument/2006/relationships/slide" Target="slides/slide30.xml"/><rel:Relationship Id="rId37" Type="http://schemas.openxmlformats.org/officeDocument/2006/relationships/slide" Target="slides/slide31.xml"/><rel:Relationship Id="rId38" Type="http://schemas.openxmlformats.org/officeDocument/2006/relationships/slide" Target="slides/slide32.xml"/><rel:Relationship Id="rId39" Type="http://schemas.openxmlformats.org/officeDocument/2006/relationships/slide" Target="slides/slide33.xml"/></rel: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8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9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0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1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2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3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4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5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6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7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8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9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0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1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2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3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4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5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6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7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8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9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0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1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2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3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0"/>
            <a:ext cx="4114800" cy="647510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029200" y="642938"/>
            <a:ext cx="4114800" cy="647510"/>
          </a:xfrm>
          <a:prstGeom prst="rect">
            <a:avLst/>
          </a:prstGeom>
          <a:solidFill>
            <a:srgbClr val="00DB75">
              <a:alpha val="6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029200" y="1285875"/>
            <a:ext cx="4114800" cy="647510"/>
          </a:xfrm>
          <a:prstGeom prst="rect">
            <a:avLst/>
          </a:prstGeom>
          <a:solidFill>
            <a:srgbClr val="00B661">
              <a:alpha val="63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1928813"/>
            <a:ext cx="4114800" cy="647510"/>
          </a:xfrm>
          <a:prstGeom prst="rect">
            <a:avLst/>
          </a:prstGeom>
          <a:solidFill>
            <a:srgbClr val="00924E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29200" y="2571750"/>
            <a:ext cx="4114800" cy="647510"/>
          </a:xfrm>
          <a:prstGeom prst="rect">
            <a:avLst/>
          </a:prstGeom>
          <a:solidFill>
            <a:srgbClr val="006D3A">
              <a:alpha val="67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29200" y="3214688"/>
            <a:ext cx="4114800" cy="647510"/>
          </a:xfrm>
          <a:prstGeom prst="rect">
            <a:avLst/>
          </a:prstGeom>
          <a:solidFill>
            <a:srgbClr val="004927">
              <a:alpha val="69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0" y="3857625"/>
            <a:ext cx="4114800" cy="647510"/>
          </a:xfrm>
          <a:prstGeom prst="rect">
            <a:avLst/>
          </a:prstGeom>
          <a:solidFill>
            <a:srgbClr val="00241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4500563"/>
            <a:ext cx="4114800" cy="647510"/>
          </a:xfrm>
          <a:prstGeom prst="rect">
            <a:avLst/>
          </a:prstGeom>
          <a:solidFill>
            <a:srgbClr val="000000">
              <a:alpha val="7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設計基礎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2648" y="29260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 LLM Agent 擁有視覺化能力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474720" y="-457200"/>
            <a:ext cx="1828800" cy="1828800"/>
          </a:xfrm>
          <a:prstGeom prst="donut">
            <a:avLst/>
          </a:prstGeom>
          <a:solidFill>
            <a:srgbClr val="00FF88">
              <a:alpha val="12000"/>
            </a:srgbClr>
          </a:solidFill>
          <a:ln w="508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3200400"/>
            <a:ext cx="1371600" cy="1371600"/>
          </a:xfrm>
          <a:prstGeom prst="donut">
            <a:avLst/>
          </a:prstGeom>
          <a:solidFill>
            <a:srgbClr val="8888AA">
              <a:alpha val="10000"/>
            </a:srgbClr>
          </a:solidFill>
          <a:ln w="3810">
            <a:solidFill>
              <a:srgbClr val="8888AA">
                <a:alpha val="1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06240" y="4114800"/>
            <a:ext cx="365760" cy="365760"/>
          </a:xfrm>
          <a:prstGeom prst="diamond">
            <a:avLst/>
          </a:prstGeom>
          <a:solidFill>
            <a:srgbClr val="00FF88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1554480"/>
            <a:ext cx="2011680" cy="2011680"/>
          </a:xfrm>
          <a:prstGeom prst="donut">
            <a:avLst/>
          </a:prstGeom>
          <a:solidFill>
            <a:srgbClr val="8888AA">
              <a:alpha val="8000"/>
            </a:srgbClr>
          </a:solidFill>
          <a:ln w="6350">
            <a:solidFill>
              <a:srgbClr val="8888A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為什麼需要 SKILL 設計？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72284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資料分析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 CSV 資料轉換為圖表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商業儀表板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即時可視化業績指標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72284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教育簡報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自動生成說明性圖表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3076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🖼️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圖像創作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產生行銷素材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1371600"/>
            <a:ext cx="791870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vs Tool vs Function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657600" y="3200400"/>
            <a:ext cx="1828800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3383280"/>
            <a:ext cx="79187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三個層級的抽象差異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0" y="640080"/>
            <a:ext cx="548640" cy="54864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74052" y="507492"/>
            <a:ext cx="356616" cy="356616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909560" y="457200"/>
            <a:ext cx="274320" cy="27432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438644" y="1037844"/>
            <a:ext cx="301752" cy="301752"/>
          </a:xfrm>
          <a:prstGeom prst="ellipse">
            <a:avLst/>
          </a:prstGeom>
          <a:solidFill>
            <a:srgbClr val="00FF88">
              <a:alpha val="1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88720" y="3931920"/>
            <a:ext cx="365760" cy="36576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2688" y="3767328"/>
            <a:ext cx="237744" cy="237744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3703320"/>
            <a:ext cx="182880" cy="18288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層級對比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029968"/>
                <a:gridCol w="2029968"/>
                <a:gridCol w="2029968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概念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層級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定義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Function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單一可調用的程式函數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generate_bar_chart()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多個 Function 組合 + 使用說明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Chart Tool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完整的能力系統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數據可視化 SKILL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語法範例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chart-generation-skill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version: "1.0.0"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生成專業級圖表的技能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trigger: 當用戶需要圖表時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圖表生成技能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使用流程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分析需求 → 確定圖表類型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驗證輸入 → JSON Schema 檢查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生成圖表 → 調用渲染引擎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設計模式深度剖析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四大設計模式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 Calling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每個圖表類型是獨立 Tool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Structured 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輸出 JSON 轉換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Interpreter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生成執行碼在沙盒執行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Generative UI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佈局×樣式雙維度控制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Calling vs Structured Output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1A2A3A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188720"/>
            <a:ext cx="3776472" cy="73152"/>
          </a:xfrm>
          <a:prstGeom prst="rect">
            <a:avLst/>
          </a:prstGeom>
          <a:solidFill>
            <a:srgbClr val="1A3A2A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Tool Calling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每個圖表類型是獨立函數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精細控制參數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適合穩定的圖表類型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2A1A2A"/>
          </a:solidFill>
          <a:ln/>
        </p:spPr>
      </p:sp>
      <p:sp>
        <p:nvSpPr>
          <p:cNvPr id="9" name="Shape 7"/>
          <p:cNvSpPr/>
          <p:nvPr/>
        </p:nvSpPr>
        <p:spPr>
          <a:xfrm>
            <a:off x="4626864" y="1188720"/>
            <a:ext cx="3776472" cy="73152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0" name="Text 8"/>
          <p:cNvSpPr/>
          <p:nvPr/>
        </p:nvSpPr>
        <p:spPr>
          <a:xfrm>
            <a:off x="4626864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Structured Output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9744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只負責輸出 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解耦渲染引擎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更大的彈性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Interpreter 流程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1316736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生成代碼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根據需求生成 Python 程式碼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6584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60904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0904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3364992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98064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安全檢查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98064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檢查禁用模組和關鍵字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34840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09160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709160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Text 21"/>
          <p:cNvSpPr/>
          <p:nvPr/>
        </p:nvSpPr>
        <p:spPr>
          <a:xfrm>
            <a:off x="5413248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沙盒執行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46320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在受限環境中執行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83096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757416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Text 28"/>
          <p:cNvSpPr/>
          <p:nvPr/>
        </p:nvSpPr>
        <p:spPr>
          <a:xfrm>
            <a:off x="7461504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94576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捕捉輸出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94576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獲取生成的圖片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模式選擇決策樹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18872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00FF88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11887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需要什麼樣的圖表能力？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0020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60020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彈性/通用性 → Code Interpreter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9476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476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15468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5468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精確控制 → Tool Calling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4924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70916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結構化數據 → Structured Output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372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6364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豐富視覺 → Generative UI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模式選擇建議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需要精細控制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Tool Calling 模式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需要彈性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Code Interpreter 模式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需要解耦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Structured Output 模式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圖表 SKILL 設計實戰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支援的圖表類型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72284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柱狀圖 - 比較類別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折線圖 - 顯示趨勢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72284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•́́́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scatter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散佈圖 - 變數關係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3076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📖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histogram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直方圖 - 分佈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Schema 範例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"chartType": "bar",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"data": [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{"month": "1月", "sales": 120},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{"month": "2月", "sales": 200}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"xField": "month",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"yField": "sales",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"月度銷售額"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使用流程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51026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51026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準備資料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列表格式的資料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3452" y="2926080"/>
            <a:ext cx="320040" cy="18288"/>
          </a:xfrm>
          <a:prstGeom prst="rect">
            <a:avLst/>
          </a:prstGeom>
          <a:solidFill>
            <a:srgbClr val="00FF88"/>
          </a:solidFill>
          <a:ln w="2540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38044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76422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76422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29484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選擇類型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29484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bar / line / scatter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98848" y="2926080"/>
            <a:ext cx="320040" cy="18288"/>
          </a:xfrm>
          <a:prstGeom prst="rect">
            <a:avLst/>
          </a:prstGeom>
          <a:solidFill>
            <a:srgbClr val="00FF88"/>
          </a:solidFill>
          <a:ln w="2540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01818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01818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設定參數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xField, yField, title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24244" y="2926080"/>
            <a:ext cx="320040" cy="18288"/>
          </a:xfrm>
          <a:prstGeom prst="rect">
            <a:avLst/>
          </a:prstGeom>
          <a:solidFill>
            <a:srgbClr val="00FF88"/>
          </a:solidFill>
          <a:ln w="2540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688836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27214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27214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80276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執行生成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780276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調用 generate.py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 SKILL 架構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主技能文件 (YAML + Markdown)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references/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參考手冊與範例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📁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templates/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預設配置模板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scripts/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驗證與生成腳本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錯誤處理策略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044952"/>
                <a:gridCol w="3044952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錯誤類型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ValidationError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輸入不符合 schema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返回詳細錯誤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EmptyDataError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資料為空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提示检查輸入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RenderError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渲染失敗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重試或降級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圖像生成 SKILL 設計實戰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圖像生成的特殊性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72284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不確定性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 prompt 可能產生不同結果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風格控制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需要明確的風格系統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72284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🔁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一致性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多張圖需維持相同風格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3076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質量評估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難以程式化判斷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預設風格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044952"/>
                <a:gridCol w="3044952"/>
              </a:tblGrid>
              <a:tr h="49638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風格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描述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適用場景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photorealistic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寫實攝影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產品照、人物寫真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illustration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數位插畫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文章插圖、說明圖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sketch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草圖、概念圖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3d-render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3D 渲染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產品展示、建範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anime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動漫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卡通、角色設計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minimalist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簡報、網頁設計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Engineering 指南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結構化 Prompt 模板: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[主體描述] + [風格修飾] + [技術參數]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範例: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"一隻橘色的貓坐在窗邊,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數位藝術風格,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高細節, 8k"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重要要素: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Subject: 主體 (a cat, a landscape)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Style: 風格 (digital art, photo)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Quality: 品質 (high quality, 8k)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Lighting: 光照 (natural light)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Composition: 構圖 (rule of thirds)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風格一致性保證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Seed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固定隨機種子確保可複現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 Prompt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統一的提示詞模板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負面提示詞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排除不必要的元素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驗證與測試策略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三層驗證體系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2456688" cy="3383280"/>
          </a:xfrm>
          <a:prstGeom prst="roundRect">
            <a:avLst>
              <a:gd name="adj" fmla="val 372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188720"/>
            <a:ext cx="2456688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216152"/>
            <a:ext cx="2456688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1658112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1874520"/>
            <a:ext cx="2182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JSON Schema 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218236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結構、類型、必填欄位檢查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9336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43656" y="1188720"/>
            <a:ext cx="2456688" cy="3383280"/>
          </a:xfrm>
          <a:prstGeom prst="roundRect">
            <a:avLst>
              <a:gd name="adj" fmla="val 372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43656" y="1188720"/>
            <a:ext cx="2456688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3343656" y="1216152"/>
            <a:ext cx="2456688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0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80816" y="1874520"/>
            <a:ext cx="2182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業務邏輯驗證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80816" y="2423160"/>
            <a:ext cx="218236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數據範圍、業務規則、一致性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00344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74664" y="1188720"/>
            <a:ext cx="2456688" cy="3383280"/>
          </a:xfrm>
          <a:prstGeom prst="roundRect">
            <a:avLst>
              <a:gd name="adj" fmla="val 372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74664" y="1188720"/>
            <a:ext cx="2456688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074664" y="1216152"/>
            <a:ext cx="2456688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Text 21"/>
          <p:cNvSpPr/>
          <p:nvPr/>
        </p:nvSpPr>
        <p:spPr>
          <a:xfrm>
            <a:off x="7120128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1824" y="1874520"/>
            <a:ext cx="2182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結果驗證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11824" y="2423160"/>
            <a:ext cx="218236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輸出格式、內容正確性、品質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Schema 驗證實作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jsonschema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CHART_SCHEMA =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"object",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"properties":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"chartType":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"type": "string",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"enum": ["bar", "line", "scatter"]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"type": "array",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"minItems":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"required": ["chartType", "data"]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jsonschema.validate(input_data, CHART_SCHEMA)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測試層級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044952"/>
                <a:gridCol w="3044952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測試類型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個別函數和類別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pytest, unittest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多個組件交互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API 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完整流程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Selenium, Playwright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錯誤處理策略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驗證錯誤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立即失敗，回傳詳細錯誤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渲染錯誤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重詥或切換方案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設定合理超時並返回部分結果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案例研究：熱門實作剖析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研究基礎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antvis/mcp-server-chart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Server 架構，26+ 圖表類型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hustcc/mcp-echarts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ECharts 全功能，Structured Output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Preswald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WASM 瀏覽器執行，離線可用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baoyu-infographic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Layout × Style 雙維度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專案比較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029968"/>
                <a:gridCol w="2029968"/>
                <a:gridCol w="2029968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Stars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設計特色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應用場景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antvis/mcp-server-chart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3996+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Tool-based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精細控制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hustcc/mcp-echarts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226+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Structured Output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結構化數據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Preswald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4287+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WASM 執行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資料應用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baoyu-infographic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150+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雙維度設計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豐富視覺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設計迭代循環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554480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7425" y="1582592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31881" y="1665847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84821" y="1801047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06526" y="1982994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88473" y="2204699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23673" y="2457639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06928" y="2732095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06928" y="3017520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23673" y="3302945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88473" y="3577401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06526" y="3830341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84821" y="4052046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31881" y="4233993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57425" y="4369193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4452448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86575" y="4452448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12119" y="4369193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59179" y="4233993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37474" y="4052046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55527" y="3830341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20327" y="3577401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37072" y="3302945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08960" y="3017520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08960" y="2732095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37072" y="2457639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0327" y="2204699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55527" y="1982994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37474" y="1801047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59179" y="1665847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12119" y="1582592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86575" y="1554480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60520" y="11430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160520" y="1143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研究需求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23560" y="2606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62356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設計 Schema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60520" y="4069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160520" y="4069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實作核心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97480" y="2606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69748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驗證測試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365760"/>
            <a:ext cx="73152" cy="441198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4" name="Text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課程績效 Checklist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188720"/>
            <a:ext cx="79187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能解釋 SKILL 和 Tool 的差異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能寫出符合規範的 SKILL.md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理解四大設計模式的選擇邏輯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能獨立設計並實作圖表/圖像 SKILL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能建立完整的驗證機制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" y="-2286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468630" y="-37719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0020" y="-43434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915400" y="-2286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675370" y="-37719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304020" y="-43434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-228600" y="49149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-468630" y="476631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0020" y="470916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915400" y="49149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675370" y="476631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304020" y="470916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1371600"/>
            <a:ext cx="7918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謝謝聽講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12648" y="2926080"/>
            <a:ext cx="79187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Agent 視覺化 SKILL 設計 v2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2648" y="4206240"/>
            <a:ext cx="79187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完整教材與範例請見 GitHub\ngradinnovate-agents/llm-agent-visual-skill-design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2026-04-23T06:44:25Z</dcterms:created>
  <dcterms:modified xsi:type="dcterms:W3CDTF">2026-04-23T06:44:25Z</dcterms:modified>
</cp:coreProperties>
</file>