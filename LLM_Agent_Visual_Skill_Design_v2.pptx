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029200" y="0"/>
            <a:ext cx="4114800" cy="51435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029200" y="0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029200" y="642938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0" y="1285875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029200" y="1928813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0" y="2571750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029200" y="3214688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029200" y="3857625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0" y="4500563"/>
            <a:ext cx="4114800" cy="64751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2648" y="1645920"/>
            <a:ext cx="411480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SKILL 設計基礎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2926080"/>
            <a:ext cx="411480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讓 LLM Agent 擁有視覺化能力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-457200"/>
            <a:ext cx="1828800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1371600" cy="1371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206240" y="41148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011680" cy="20116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為什麼需要 SKILL 設計？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272284" y="13258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資料分析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將 CSV 資料轉換為圖表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1887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323076" y="13258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商業儀表板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即時可視化業績指標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" y="30175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72284" y="31546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教育簡報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自動生成說明性圖表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0175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23076" y="31546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🖼️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圖像創作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產生行銷素材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1371600"/>
            <a:ext cx="7918704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SKILL vs Tool vs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200400"/>
            <a:ext cx="1828800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33832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三個層級的抽象差異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0" y="64008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274052" y="507492"/>
            <a:ext cx="356616" cy="35661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909560" y="457200"/>
            <a:ext cx="274320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38644" y="1037844"/>
            <a:ext cx="301752" cy="3017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88720" y="393192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32688" y="3767328"/>
            <a:ext cx="237744" cy="23774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554480" y="3703320"/>
            <a:ext cx="182880" cy="1828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層級對比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SKILL.md 語法範例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---</a:t>
            </a:r>
          </a:p>
          <a:p>
            <a:r>
              <a:t>name: chart-generation-skill</a:t>
            </a:r>
          </a:p>
          <a:p>
            <a:r>
              <a:t>version: "1.0.0"</a:t>
            </a:r>
          </a:p>
          <a:p>
            <a:r>
              <a:t>description: 生成專業級圖表的技能</a:t>
            </a:r>
          </a:p>
          <a:p>
            <a:r>
              <a:t>trigger: 當用戶需要圖表時</a:t>
            </a:r>
          </a:p>
          <a:p>
            <a:r>
              <a:t>---</a:t>
            </a:r>
          </a:p>
          <a:p/>
          <a:p>
            <a:r>
              <a:t># 圖表生成技能</a:t>
            </a:r>
          </a:p>
          <a:p/>
          <a:p>
            <a:r>
              <a:t>## 使用流程</a:t>
            </a:r>
          </a:p>
          <a:p>
            <a:r>
              <a:t>1. 分析需求 → 確定圖表類型</a:t>
            </a:r>
          </a:p>
          <a:p>
            <a:r>
              <a:t>2. 驗證輸入 → JSON Schema 檢查</a:t>
            </a:r>
          </a:p>
          <a:p>
            <a:r>
              <a:t>3. 生成圖表 → 調用渲染引擎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503920" y="0"/>
            <a:ext cx="160020" cy="1600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19134" y="115214"/>
            <a:ext cx="134417" cy="1344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34349" y="230429"/>
            <a:ext cx="108814" cy="10881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0" y="4411980"/>
            <a:ext cx="7315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185666" y="345186"/>
            <a:ext cx="864108" cy="8641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設計模式深度剖析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"/>
            <a:ext cx="10972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01000" y="379476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四大設計模式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Tool Calling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每個圖表類型是獨立 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49474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649474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Structured Output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LLM 輸出 JSON 轉換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686300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Code Interpreter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生成執行碼在沙盒執行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23126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723126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Generative UI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佈局×樣式雙維度控制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 /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Tool Calling vs Structured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1188720"/>
            <a:ext cx="3776472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188720"/>
            <a:ext cx="3776472" cy="731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325880"/>
            <a:ext cx="3776472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&gt; Tool Calling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95528" y="1691640"/>
            <a:ext cx="3410712" cy="2697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$ 每個圖表類型是獨立函數</a:t>
            </a:r>
          </a:p>
          <a:p>
            <a:r>
              <a:t>$ 精細控制參數</a:t>
            </a:r>
          </a:p>
          <a:p>
            <a:r>
              <a:t>$ 適合穩定的圖表類型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4626864" y="1188720"/>
            <a:ext cx="3776472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626864" y="1188720"/>
            <a:ext cx="3776472" cy="731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626864" y="1325880"/>
            <a:ext cx="3776472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&gt; Structured Output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1691640"/>
            <a:ext cx="3410712" cy="2697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$ LLM 只負責輸出 JSON</a:t>
            </a:r>
          </a:p>
          <a:p>
            <a:r>
              <a:t>$ 解耦渲染引擎</a:t>
            </a:r>
          </a:p>
          <a:p>
            <a:r>
              <a:t>$ 更大的彈性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 /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Code Interpreter 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1773936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188720"/>
            <a:ext cx="1773936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216152"/>
            <a:ext cx="1773936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316736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874520"/>
            <a:ext cx="1499616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LLM 生成代碼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423160"/>
            <a:ext cx="1499616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根據需求生成 Python 程式碼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86584" y="2880360"/>
            <a:ext cx="2743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660904" y="1188720"/>
            <a:ext cx="1773936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660904" y="1188720"/>
            <a:ext cx="1773936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660904" y="1216152"/>
            <a:ext cx="1773936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64992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98064" y="1874520"/>
            <a:ext cx="1499616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安全檢查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8064" y="2423160"/>
            <a:ext cx="1499616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檢查禁用模組和關鍵字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880360"/>
            <a:ext cx="2743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709160" y="1188720"/>
            <a:ext cx="1773936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709160" y="1188720"/>
            <a:ext cx="1773936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709160" y="1216152"/>
            <a:ext cx="1773936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13248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1874520"/>
            <a:ext cx="1499616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沙盒執行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2423160"/>
            <a:ext cx="1499616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在受限環境中執行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83096" y="2880360"/>
            <a:ext cx="2743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757416" y="1188720"/>
            <a:ext cx="1773936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757416" y="1188720"/>
            <a:ext cx="1773936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757416" y="1216152"/>
            <a:ext cx="1773936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461504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94576" y="1874520"/>
            <a:ext cx="1499616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捕捉輸出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94576" y="2423160"/>
            <a:ext cx="1499616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獲取生成的圖片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 /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模式選擇決策樹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931920" y="118872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931920" y="118872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需要什麼樣的圖表能力？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164592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572000" y="2194560"/>
            <a:ext cx="-23317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240280" y="219456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60020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60020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彈性/通用性 → Code Interpreter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64592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572000" y="2194560"/>
            <a:ext cx="-77724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794760" y="219456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15468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15468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精確控制 → Tool Calling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164592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72000" y="2194560"/>
            <a:ext cx="77724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349240" y="219456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70916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70916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結構化數據 → Structured Output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164592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572000" y="2194560"/>
            <a:ext cx="23317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903720" y="2194560"/>
            <a:ext cx="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6364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63640" y="2743200"/>
            <a:ext cx="128016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豐富視覺 → Generative UI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 /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模式選擇建議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需要精細控制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選擇 Tool Calling 模式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3176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13176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需要彈性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選擇 Code Interpreter 模式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3704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13704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需要解耦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選擇 Structured Output 模式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5 /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503920" y="0"/>
            <a:ext cx="160020" cy="1600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19134" y="115214"/>
            <a:ext cx="134417" cy="1344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34349" y="230429"/>
            <a:ext cx="108814" cy="10881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0" y="4411980"/>
            <a:ext cx="7315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185666" y="345186"/>
            <a:ext cx="864108" cy="8641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圖表 SKILL 設計實戰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"/>
            <a:ext cx="10972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01000" y="379476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支援的圖表類型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272284" y="13258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柱狀圖 - 比較類別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1887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323076" y="13258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折線圖 - 顯示趨勢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" y="30175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72284" y="31546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•́́́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scatter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散佈圖 - 變數關係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0175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23076" y="31546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histogram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直方圖 - 分佈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 /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Input Schema 範例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{</a:t>
            </a:r>
          </a:p>
          <a:p>
            <a:r>
              <a:t>  "chartType": "bar",</a:t>
            </a:r>
          </a:p>
          <a:p>
            <a:r>
              <a:t>  "data": [</a:t>
            </a:r>
          </a:p>
          <a:p>
            <a:r>
              <a:t>    {"month": "1月", "sales": 120},</a:t>
            </a:r>
          </a:p>
          <a:p>
            <a:r>
              <a:t>    {"month": "2月", "sales": 200}</a:t>
            </a:r>
          </a:p>
          <a:p>
            <a:r>
              <a:t>  ],</a:t>
            </a:r>
          </a:p>
          <a:p>
            <a:r>
              <a:t>  "xField": "month",</a:t>
            </a:r>
          </a:p>
          <a:p>
            <a:r>
              <a:t>  "yField": "sales",</a:t>
            </a:r>
          </a:p>
          <a:p>
            <a:r>
              <a:t>  "title": "月度銷售額"</a:t>
            </a:r>
          </a:p>
          <a:p>
            <a:r>
              <a:t>}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 /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使用流程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371600"/>
            <a:ext cx="1842516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351026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51026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2011680"/>
            <a:ext cx="165963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準備資料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2377440"/>
            <a:ext cx="1659636" cy="1965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列表格式的資料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3452" y="2926080"/>
            <a:ext cx="320040" cy="182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638044" y="1371600"/>
            <a:ext cx="1842516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76422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76422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29484" y="2011680"/>
            <a:ext cx="165963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選擇類型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29484" y="2377440"/>
            <a:ext cx="1659636" cy="1965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bar / line / scatter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98848" y="2926080"/>
            <a:ext cx="320040" cy="182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663440" y="1371600"/>
            <a:ext cx="1842516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401818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401818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2011680"/>
            <a:ext cx="165963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設定參數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377440"/>
            <a:ext cx="1659636" cy="1965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xField, yField, title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24244" y="2926080"/>
            <a:ext cx="320040" cy="1828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688836" y="1371600"/>
            <a:ext cx="1842516" cy="3108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27214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427214" y="1554480"/>
            <a:ext cx="411480" cy="4114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276" y="2011680"/>
            <a:ext cx="165963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執行生成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80276" y="2377440"/>
            <a:ext cx="1659636" cy="1965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調用 generate.py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 /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完整 SKILL 架構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SKILL.md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主技能文件 (YAML + Markdown)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49474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649474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references/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參考手冊與範例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686300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templates/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預設配置模板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23126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723126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⚙️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scripts/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驗證與生成腳本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 /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錯誤處理策略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5 /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503920" y="0"/>
            <a:ext cx="160020" cy="1600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19134" y="115214"/>
            <a:ext cx="134417" cy="1344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34349" y="230429"/>
            <a:ext cx="108814" cy="10881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0" y="4411980"/>
            <a:ext cx="7315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185666" y="345186"/>
            <a:ext cx="864108" cy="8641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圖像生成 SKILL 設計實戰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"/>
            <a:ext cx="10972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01000" y="379476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圖像生成的特殊性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272284" y="13258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3258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❓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288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不確定性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1031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同一 prompt 可能產生不同結果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1887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323076" y="13258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663440" y="13258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8288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風格控制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1031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需要明確的風格系統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" y="30175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2272284" y="31546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2648" y="31546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6576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一致性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9319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多張圖需維持相同風格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017520"/>
            <a:ext cx="3867912" cy="1645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23076" y="3154680"/>
            <a:ext cx="502920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663440" y="3154680"/>
            <a:ext cx="3867912" cy="5029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657600"/>
            <a:ext cx="3593592" cy="2743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質量評估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3931920"/>
            <a:ext cx="3593592" cy="6217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難以程式化判斷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 /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預設風格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 /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Prompt Engineering 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結構化 Prompt 模板:</a:t>
            </a:r>
          </a:p>
          <a:p>
            <a:r>
              <a:t>[主體描述] + [風格修飾] + [技術參數]</a:t>
            </a:r>
          </a:p>
          <a:p/>
          <a:p>
            <a:r>
              <a:t>範例:</a:t>
            </a:r>
          </a:p>
          <a:p>
            <a:r>
              <a:t>"一隻橘色的貓坐在窗邊,</a:t>
            </a:r>
          </a:p>
          <a:p>
            <a:r>
              <a:t> 數位藝術風格,</a:t>
            </a:r>
          </a:p>
          <a:p>
            <a:r>
              <a:t> 高細節, 8k"</a:t>
            </a:r>
          </a:p>
          <a:p/>
          <a:p>
            <a:r>
              <a:t>重要要素:</a:t>
            </a:r>
          </a:p>
          <a:p>
            <a:r>
              <a:t>- Subject: 主體 (a cat, a landscape)</a:t>
            </a:r>
          </a:p>
          <a:p>
            <a:r>
              <a:t>- Style: 風格 (digital art, photo)</a:t>
            </a:r>
          </a:p>
          <a:p>
            <a:r>
              <a:t>- Quality: 品質 (high quality, 8k)</a:t>
            </a:r>
          </a:p>
          <a:p>
            <a:r>
              <a:t>- Lighting: 光照 (natural light)</a:t>
            </a:r>
          </a:p>
          <a:p>
            <a:r>
              <a:t>- Composition: 構圖 (rule of thirds)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 /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風格一致性保證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使用 Seed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固定隨機種子確保可複現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3176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13176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結構化 Prompt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統一的提示詞模板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3704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13704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負面提示詞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排除不必要的元素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 /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503920" y="0"/>
            <a:ext cx="160020" cy="1600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19134" y="115214"/>
            <a:ext cx="134417" cy="1344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34349" y="230429"/>
            <a:ext cx="108814" cy="10881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0" y="4411980"/>
            <a:ext cx="7315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185666" y="345186"/>
            <a:ext cx="864108" cy="8641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驗證與測試策略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"/>
            <a:ext cx="10972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01000" y="379476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三層驗證體系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2456688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188720"/>
            <a:ext cx="2456688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216152"/>
            <a:ext cx="2456688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58112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874520"/>
            <a:ext cx="2182368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JSON Schema 驗證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423160"/>
            <a:ext cx="2182368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結構、類型、必填欄位檢查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9336" y="2880360"/>
            <a:ext cx="2743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43656" y="1188720"/>
            <a:ext cx="2456688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43656" y="1188720"/>
            <a:ext cx="2456688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43656" y="1216152"/>
            <a:ext cx="2456688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389120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80816" y="1874520"/>
            <a:ext cx="2182368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業務邏輯驗證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80816" y="2423160"/>
            <a:ext cx="2182368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數據範圍、業務規則、一致性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0344" y="2880360"/>
            <a:ext cx="274320" cy="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074664" y="1188720"/>
            <a:ext cx="2456688" cy="3383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074664" y="1188720"/>
            <a:ext cx="2456688" cy="5486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074664" y="1216152"/>
            <a:ext cx="2456688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7120128" y="1371600"/>
            <a:ext cx="365760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1824" y="1874520"/>
            <a:ext cx="2182368" cy="3657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結果驗證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1824" y="2423160"/>
            <a:ext cx="2182368" cy="18288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輸出格式、內容正確性、品質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 /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JSON Schema 驗證實作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188720"/>
            <a:ext cx="7918704" cy="3017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import jsonschema</a:t>
            </a:r>
          </a:p>
          <a:p/>
          <a:p>
            <a:r>
              <a:t>CHART_SCHEMA = {</a:t>
            </a:r>
          </a:p>
          <a:p>
            <a:r>
              <a:t>  "type": "object",</a:t>
            </a:r>
          </a:p>
          <a:p>
            <a:r>
              <a:t>  "properties": {</a:t>
            </a:r>
          </a:p>
          <a:p>
            <a:r>
              <a:t>    "chartType": {</a:t>
            </a:r>
          </a:p>
          <a:p>
            <a:r>
              <a:t>      "type": "string",</a:t>
            </a:r>
          </a:p>
          <a:p>
            <a:r>
              <a:t>      "enum": ["bar", "line", "scatter"]</a:t>
            </a:r>
          </a:p>
          <a:p>
            <a:r>
              <a:t>    },</a:t>
            </a:r>
          </a:p>
          <a:p>
            <a:r>
              <a:t>    "data": {</a:t>
            </a:r>
          </a:p>
          <a:p>
            <a:r>
              <a:t>      "type": "array",</a:t>
            </a:r>
          </a:p>
          <a:p>
            <a:r>
              <a:t>      "minItems": 1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"required": ["chartType", "data"]</a:t>
            </a:r>
          </a:p>
          <a:p>
            <a:r>
              <a:t>}</a:t>
            </a:r>
          </a:p>
          <a:p/>
          <a:p>
            <a:r>
              <a:t>jsonschema.validate(input_data, CHART_SCHEMA)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 /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測試層級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 /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錯誤處理策略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驗證錯誤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立即失敗，回傳詳細錯誤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3176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13176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77768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渲染錯誤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7768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重詥或切換方案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3704" y="1280160"/>
            <a:ext cx="2517648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13704" y="1280160"/>
            <a:ext cx="54864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8296" y="1463040"/>
            <a:ext cx="2243328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超時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8296" y="1828800"/>
            <a:ext cx="2243328" cy="2606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設定合理超時並返回部分結果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 /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8572" cy="5148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524000" y="857250"/>
            <a:ext cx="7624572" cy="4290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048000" y="1714500"/>
            <a:ext cx="6100572" cy="34335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2571750"/>
            <a:ext cx="4576572" cy="25763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0" y="3429000"/>
            <a:ext cx="3052572" cy="17190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620000" y="4286250"/>
            <a:ext cx="1528572" cy="86182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503920" y="0"/>
            <a:ext cx="160020" cy="1600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19134" y="115214"/>
            <a:ext cx="134417" cy="1344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734349" y="230429"/>
            <a:ext cx="108814" cy="10881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0" y="4411980"/>
            <a:ext cx="731520" cy="731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185666" y="345186"/>
            <a:ext cx="864108" cy="8641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297680" y="457200"/>
            <a:ext cx="6400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314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686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429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800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5433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914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36576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029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7719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143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8862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57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40005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372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1148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486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2291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600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3434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57150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57700" y="2194560"/>
            <a:ext cx="118872" cy="274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2648" y="2468880"/>
            <a:ext cx="7918704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案例研究：熱門實作剖析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5760"/>
            <a:ext cx="1097280" cy="10972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001000" y="379476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研究基礎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antvis/mcp-server-chart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MCP Server 架構，26+ 圖表類型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49474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649474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hustcc/mcp-echarts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ECharts 全功能，Structured Output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686300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Preswald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WASM 瀏覽器執行，離線可用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23126" y="1280160"/>
            <a:ext cx="1808226" cy="32918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723126" y="1280160"/>
            <a:ext cx="1808226" cy="45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baoyu-infographic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Layout × Style 雙維度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 /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專案比較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 /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SKILL 設計迭代循環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1554480"/>
            <a:ext cx="285425" cy="2811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857425" y="1582592"/>
            <a:ext cx="274456" cy="832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131881" y="1665847"/>
            <a:ext cx="252940" cy="1351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384821" y="1801047"/>
            <a:ext cx="221704" cy="18194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06526" y="1982994"/>
            <a:ext cx="181948" cy="2217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788473" y="2204699"/>
            <a:ext cx="135199" cy="2529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23673" y="2457639"/>
            <a:ext cx="83255" cy="27445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06928" y="2732095"/>
            <a:ext cx="28112" cy="2854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035040" y="3017520"/>
            <a:ext cx="-28112" cy="2854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06928" y="3302945"/>
            <a:ext cx="-83255" cy="27445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23673" y="3577401"/>
            <a:ext cx="-135199" cy="2529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788473" y="3830341"/>
            <a:ext cx="-181948" cy="2217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606526" y="4052046"/>
            <a:ext cx="-221704" cy="18194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384821" y="4233993"/>
            <a:ext cx="-252940" cy="1351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131881" y="4369193"/>
            <a:ext cx="-274456" cy="832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4857425" y="4452448"/>
            <a:ext cx="-285425" cy="2811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572000" y="4480560"/>
            <a:ext cx="-285425" cy="-2811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286575" y="4452448"/>
            <a:ext cx="-274456" cy="-832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012119" y="4369193"/>
            <a:ext cx="-252940" cy="-1351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759179" y="4233993"/>
            <a:ext cx="-221704" cy="-18194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537474" y="4052046"/>
            <a:ext cx="-181948" cy="-2217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355527" y="3830341"/>
            <a:ext cx="-135199" cy="-2529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220327" y="3577401"/>
            <a:ext cx="-83255" cy="-27445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3137072" y="3302945"/>
            <a:ext cx="-28112" cy="-2854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108960" y="3017520"/>
            <a:ext cx="28112" cy="-28542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137072" y="2732095"/>
            <a:ext cx="83255" cy="-27445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220327" y="2457639"/>
            <a:ext cx="135199" cy="-2529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3355527" y="2204699"/>
            <a:ext cx="181948" cy="-221704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537474" y="1982994"/>
            <a:ext cx="221704" cy="-18194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759179" y="1801047"/>
            <a:ext cx="252940" cy="-13519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4012119" y="1665847"/>
            <a:ext cx="274456" cy="-8325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286575" y="1582592"/>
            <a:ext cx="285425" cy="-2811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160520" y="114300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160520" y="114300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研究需求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23560" y="260604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5623560" y="260604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設計 Schema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406908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4160520" y="406908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實作核心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7480" y="260604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2697480" y="2606040"/>
            <a:ext cx="822960" cy="82296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驗證測試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 /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365760" y="365760"/>
            <a:ext cx="73152" cy="44119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課程績效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987552"/>
            <a:ext cx="7918704" cy="914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12648" y="1014984"/>
            <a:ext cx="7918704" cy="36576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12648" y="1188720"/>
            <a:ext cx="7918704" cy="347472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✅ 能解釋 SKILL 和 Tool 的差異</a:t>
            </a:r>
          </a:p>
          <a:p>
            <a:r>
              <a:t>✅ 能寫出符合規範的 SKILL.md</a:t>
            </a:r>
          </a:p>
          <a:p>
            <a:r>
              <a:t>✅ 理解四大設計模式的選擇邏輯</a:t>
            </a:r>
          </a:p>
          <a:p>
            <a:r>
              <a:t>✅ 能獨立設計並實作圖表/圖像 SKILL</a:t>
            </a:r>
          </a:p>
          <a:p>
            <a:r>
              <a:t>✅ 能建立完整的驗證機制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 /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-228600" y="-22860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-468630" y="-377190"/>
            <a:ext cx="297180" cy="2971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60020" y="-434340"/>
            <a:ext cx="228600" cy="228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915400" y="-22860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675370" y="-377190"/>
            <a:ext cx="297180" cy="2971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304020" y="-434340"/>
            <a:ext cx="228600" cy="228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-228600" y="491490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-468630" y="4766310"/>
            <a:ext cx="297180" cy="2971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60020" y="4709160"/>
            <a:ext cx="228600" cy="228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915400" y="4914900"/>
            <a:ext cx="457200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675370" y="4766310"/>
            <a:ext cx="297180" cy="2971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304020" y="4709160"/>
            <a:ext cx="228600" cy="228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12648" y="1371600"/>
            <a:ext cx="7918704" cy="1371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謝謝聽講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" y="2926080"/>
            <a:ext cx="7918704" cy="54864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LLM Agent 視覺化 SKILL 設計 v2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" y="4206240"/>
            <a:ext cx="7918704" cy="457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完整教材與範例請見 GitHub\ngradinnovate-agents/llm-agent-visual-skill-design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